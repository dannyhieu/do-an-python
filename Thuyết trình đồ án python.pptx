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6" d="100"/>
          <a:sy n="86" d="100"/>
        </p:scale>
        <p:origin x="52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A1F36"/>
                </a:solidFill>
                <a:latin typeface="Arial"/>
              </a:defRPr>
            </a:pPr>
            <a:r>
              <a:rPr lang="en-US" sz="1200" b="0" i="0" u="none" strike="noStrike">
                <a:solidFill>
                  <a:srgbClr val="1A1F36"/>
                </a:solidFill>
                <a:latin typeface="Arial"/>
              </a:rPr>
              <a:t>Sàng lọc triệu chứng — điểm F1 theo thuật toán</a:t>
            </a:r>
          </a:p>
        </c:rich>
      </c:tx>
      <c:layout/>
      <c:overlay val="0"/>
    </c:title>
    <c:autoTitleDeleted val="0"/>
    <c:plotArea>
      <c:layout/>
      <c:barChart>
        <c:barDir val="col"/>
        <c:grouping val="clustered"/>
        <c:varyColors val="0"/>
        <c:ser>
          <c:idx val="0"/>
          <c:order val="0"/>
          <c:tx>
            <c:strRef>
              <c:f>Sheet1!$B$1</c:f>
              <c:strCache>
                <c:ptCount val="1"/>
                <c:pt idx="0">
                  <c:v>F1 (kiểm tra chéo)</c:v>
                </c:pt>
              </c:strCache>
            </c:strRef>
          </c:tx>
          <c:spPr>
            <a:solidFill>
              <a:srgbClr val="FF8A3D"/>
            </a:solidFill>
            <a:effectLst/>
          </c:spPr>
          <c:invertIfNegative val="0"/>
          <c:dPt>
            <c:idx val="0"/>
            <c:invertIfNegative val="0"/>
            <c:bubble3D val="0"/>
            <c:extLst>
              <c:ext xmlns:c16="http://schemas.microsoft.com/office/drawing/2014/chart" uri="{C3380CC4-5D6E-409C-BE32-E72D297353CC}">
                <c16:uniqueId val="{00000001-18EC-4B4B-A5FE-35576E19AE52}"/>
              </c:ext>
            </c:extLst>
          </c:dPt>
          <c:dPt>
            <c:idx val="1"/>
            <c:invertIfNegative val="0"/>
            <c:bubble3D val="0"/>
            <c:spPr>
              <a:solidFill>
                <a:srgbClr val="0F5C57"/>
              </a:solidFill>
              <a:effectLst/>
            </c:spPr>
            <c:extLst>
              <c:ext xmlns:c16="http://schemas.microsoft.com/office/drawing/2014/chart" uri="{C3380CC4-5D6E-409C-BE32-E72D297353CC}">
                <c16:uniqueId val="{00000003-18EC-4B4B-A5FE-35576E19AE52}"/>
              </c:ext>
            </c:extLst>
          </c:dPt>
          <c:dPt>
            <c:idx val="2"/>
            <c:invertIfNegative val="0"/>
            <c:bubble3D val="0"/>
            <c:spPr>
              <a:solidFill>
                <a:srgbClr val="0F5C57"/>
              </a:solidFill>
              <a:effectLst/>
            </c:spPr>
            <c:extLst>
              <c:ext xmlns:c16="http://schemas.microsoft.com/office/drawing/2014/chart" uri="{C3380CC4-5D6E-409C-BE32-E72D297353CC}">
                <c16:uniqueId val="{00000005-18EC-4B4B-A5FE-35576E19AE52}"/>
              </c:ext>
            </c:extLst>
          </c:dPt>
          <c:dPt>
            <c:idx val="3"/>
            <c:invertIfNegative val="0"/>
            <c:bubble3D val="0"/>
            <c:spPr>
              <a:solidFill>
                <a:srgbClr val="0F5C57"/>
              </a:solidFill>
              <a:effectLst/>
            </c:spPr>
            <c:extLst>
              <c:ext xmlns:c16="http://schemas.microsoft.com/office/drawing/2014/chart" uri="{C3380CC4-5D6E-409C-BE32-E72D297353CC}">
                <c16:uniqueId val="{00000007-18EC-4B4B-A5FE-35576E19AE52}"/>
              </c:ext>
            </c:extLst>
          </c:dPt>
          <c:dLbls>
            <c:numFmt formatCode="0.0000" sourceLinked="0"/>
            <c:spPr>
              <a:noFill/>
              <a:ln>
                <a:noFill/>
              </a:ln>
              <a:effectLst/>
            </c:spPr>
            <c:txPr>
              <a:bodyPr/>
              <a:lstStyle/>
              <a:p>
                <a:pPr>
                  <a:defRPr sz="1000" b="0" i="0" u="none" strike="noStrike">
                    <a:solidFill>
                      <a:srgbClr val="1A1F3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SVC</c:v>
                </c:pt>
                <c:pt idx="1">
                  <c:v>RandomForest</c:v>
                </c:pt>
                <c:pt idx="2">
                  <c:v>LogisticRegression</c:v>
                </c:pt>
                <c:pt idx="3">
                  <c:v>KNN</c:v>
                </c:pt>
              </c:strCache>
            </c:strRef>
          </c:cat>
          <c:val>
            <c:numRef>
              <c:f>Sheet1!$B$2:$B$5</c:f>
              <c:numCache>
                <c:formatCode>General</c:formatCode>
                <c:ptCount val="4"/>
                <c:pt idx="0">
                  <c:v>0.94120000000000004</c:v>
                </c:pt>
                <c:pt idx="1">
                  <c:v>0.93940000000000001</c:v>
                </c:pt>
                <c:pt idx="2">
                  <c:v>0.86150000000000004</c:v>
                </c:pt>
                <c:pt idx="3">
                  <c:v>0.85250000000000004</c:v>
                </c:pt>
              </c:numCache>
            </c:numRef>
          </c:val>
          <c:extLst>
            <c:ext xmlns:c16="http://schemas.microsoft.com/office/drawing/2014/chart" uri="{C3380CC4-5D6E-409C-BE32-E72D297353CC}">
              <c16:uniqueId val="{00000008-18EC-4B4B-A5FE-35576E19AE5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A1F36"/>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A1F36"/>
                </a:solidFill>
                <a:latin typeface="Arial"/>
              </a:defRPr>
            </a:pPr>
            <a:r>
              <a:rPr lang="en-US" sz="1200" b="0" i="0" u="none" strike="noStrike">
                <a:solidFill>
                  <a:srgbClr val="1A1F36"/>
                </a:solidFill>
                <a:latin typeface="Arial"/>
              </a:rPr>
              <a:t>Chỉ số lâm sàng — điểm F1 theo thuật toán</a:t>
            </a:r>
          </a:p>
        </c:rich>
      </c:tx>
      <c:layout/>
      <c:overlay val="0"/>
    </c:title>
    <c:autoTitleDeleted val="0"/>
    <c:plotArea>
      <c:layout/>
      <c:barChart>
        <c:barDir val="col"/>
        <c:grouping val="clustered"/>
        <c:varyColors val="0"/>
        <c:ser>
          <c:idx val="0"/>
          <c:order val="0"/>
          <c:tx>
            <c:strRef>
              <c:f>Sheet1!$B$1</c:f>
              <c:strCache>
                <c:ptCount val="1"/>
                <c:pt idx="0">
                  <c:v>F1 (kiểm tra chéo)</c:v>
                </c:pt>
              </c:strCache>
            </c:strRef>
          </c:tx>
          <c:spPr>
            <a:solidFill>
              <a:srgbClr val="FF8A3D"/>
            </a:solidFill>
            <a:effectLst/>
          </c:spPr>
          <c:invertIfNegative val="0"/>
          <c:dPt>
            <c:idx val="0"/>
            <c:invertIfNegative val="0"/>
            <c:bubble3D val="0"/>
            <c:extLst>
              <c:ext xmlns:c16="http://schemas.microsoft.com/office/drawing/2014/chart" uri="{C3380CC4-5D6E-409C-BE32-E72D297353CC}">
                <c16:uniqueId val="{00000001-0297-445D-AEDA-50F349F7D566}"/>
              </c:ext>
            </c:extLst>
          </c:dPt>
          <c:dPt>
            <c:idx val="1"/>
            <c:invertIfNegative val="0"/>
            <c:bubble3D val="0"/>
            <c:spPr>
              <a:solidFill>
                <a:srgbClr val="1C7293"/>
              </a:solidFill>
              <a:effectLst/>
            </c:spPr>
            <c:extLst>
              <c:ext xmlns:c16="http://schemas.microsoft.com/office/drawing/2014/chart" uri="{C3380CC4-5D6E-409C-BE32-E72D297353CC}">
                <c16:uniqueId val="{00000003-0297-445D-AEDA-50F349F7D566}"/>
              </c:ext>
            </c:extLst>
          </c:dPt>
          <c:dPt>
            <c:idx val="2"/>
            <c:invertIfNegative val="0"/>
            <c:bubble3D val="0"/>
            <c:spPr>
              <a:solidFill>
                <a:srgbClr val="1C7293"/>
              </a:solidFill>
              <a:effectLst/>
            </c:spPr>
            <c:extLst>
              <c:ext xmlns:c16="http://schemas.microsoft.com/office/drawing/2014/chart" uri="{C3380CC4-5D6E-409C-BE32-E72D297353CC}">
                <c16:uniqueId val="{00000005-0297-445D-AEDA-50F349F7D566}"/>
              </c:ext>
            </c:extLst>
          </c:dPt>
          <c:dPt>
            <c:idx val="3"/>
            <c:invertIfNegative val="0"/>
            <c:bubble3D val="0"/>
            <c:spPr>
              <a:solidFill>
                <a:srgbClr val="1C7293"/>
              </a:solidFill>
              <a:effectLst/>
            </c:spPr>
            <c:extLst>
              <c:ext xmlns:c16="http://schemas.microsoft.com/office/drawing/2014/chart" uri="{C3380CC4-5D6E-409C-BE32-E72D297353CC}">
                <c16:uniqueId val="{00000007-0297-445D-AEDA-50F349F7D566}"/>
              </c:ext>
            </c:extLst>
          </c:dPt>
          <c:dLbls>
            <c:numFmt formatCode="0.0000" sourceLinked="0"/>
            <c:spPr>
              <a:noFill/>
              <a:ln>
                <a:noFill/>
              </a:ln>
              <a:effectLst/>
            </c:spPr>
            <c:txPr>
              <a:bodyPr/>
              <a:lstStyle/>
              <a:p>
                <a:pPr>
                  <a:defRPr sz="1000" b="0" i="0" u="none" strike="noStrike">
                    <a:solidFill>
                      <a:srgbClr val="1A1F3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KNN</c:v>
                </c:pt>
                <c:pt idx="1">
                  <c:v>RandomForest</c:v>
                </c:pt>
                <c:pt idx="2">
                  <c:v>SVC</c:v>
                </c:pt>
                <c:pt idx="3">
                  <c:v>LogisticRegression</c:v>
                </c:pt>
              </c:strCache>
            </c:strRef>
          </c:cat>
          <c:val>
            <c:numRef>
              <c:f>Sheet1!$B$2:$B$5</c:f>
              <c:numCache>
                <c:formatCode>General</c:formatCode>
                <c:ptCount val="4"/>
                <c:pt idx="0">
                  <c:v>0.63460000000000005</c:v>
                </c:pt>
                <c:pt idx="1">
                  <c:v>0.6139</c:v>
                </c:pt>
                <c:pt idx="2">
                  <c:v>0.6</c:v>
                </c:pt>
                <c:pt idx="3">
                  <c:v>0.54549999999999998</c:v>
                </c:pt>
              </c:numCache>
            </c:numRef>
          </c:val>
          <c:extLst>
            <c:ext xmlns:c16="http://schemas.microsoft.com/office/drawing/2014/chart" uri="{C3380CC4-5D6E-409C-BE32-E72D297353CC}">
              <c16:uniqueId val="{00000008-0297-445D-AEDA-50F349F7D56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A1F36"/>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8185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4642"/>
        </a:solidFill>
        <a:effectLst/>
      </p:bgPr>
    </p:bg>
    <p:spTree>
      <p:nvGrpSpPr>
        <p:cNvPr id="1" name=""/>
        <p:cNvGrpSpPr/>
        <p:nvPr/>
      </p:nvGrpSpPr>
      <p:grpSpPr>
        <a:xfrm>
          <a:off x="0" y="0"/>
          <a:ext cx="0" cy="0"/>
          <a:chOff x="0" y="0"/>
          <a:chExt cx="0" cy="0"/>
        </a:xfrm>
      </p:grpSpPr>
      <p:sp>
        <p:nvSpPr>
          <p:cNvPr id="2" name="Shape 0"/>
          <p:cNvSpPr/>
          <p:nvPr/>
        </p:nvSpPr>
        <p:spPr>
          <a:xfrm>
            <a:off x="8595360" y="-1828800"/>
            <a:ext cx="5669280" cy="5669280"/>
          </a:xfrm>
          <a:prstGeom prst="ellipse">
            <a:avLst/>
          </a:prstGeom>
          <a:solidFill>
            <a:srgbClr val="0F5C57">
              <a:alpha val="45000"/>
            </a:srgbClr>
          </a:solidFill>
          <a:ln/>
        </p:spPr>
      </p:sp>
      <p:sp>
        <p:nvSpPr>
          <p:cNvPr id="3" name="Shape 1"/>
          <p:cNvSpPr/>
          <p:nvPr/>
        </p:nvSpPr>
        <p:spPr>
          <a:xfrm>
            <a:off x="10607040" y="4023360"/>
            <a:ext cx="3108960" cy="3108960"/>
          </a:xfrm>
          <a:prstGeom prst="ellipse">
            <a:avLst/>
          </a:prstGeom>
          <a:solidFill>
            <a:srgbClr val="1C7293">
              <a:alpha val="45000"/>
            </a:srgbClr>
          </a:solidFill>
          <a:ln/>
        </p:spPr>
      </p:sp>
      <p:sp>
        <p:nvSpPr>
          <p:cNvPr id="4" name="Shape 2"/>
          <p:cNvSpPr/>
          <p:nvPr/>
        </p:nvSpPr>
        <p:spPr>
          <a:xfrm>
            <a:off x="9601200" y="1463040"/>
            <a:ext cx="1005840" cy="1005840"/>
          </a:xfrm>
          <a:prstGeom prst="ellipse">
            <a:avLst/>
          </a:prstGeom>
          <a:solidFill>
            <a:srgbClr val="FF8A3D">
              <a:alpha val="65000"/>
            </a:srgbClr>
          </a:solidFill>
          <a:ln/>
        </p:spPr>
      </p:sp>
      <p:sp>
        <p:nvSpPr>
          <p:cNvPr id="5" name="Text 3"/>
          <p:cNvSpPr txBox="1"/>
          <p:nvPr/>
        </p:nvSpPr>
        <p:spPr>
          <a:xfrm>
            <a:off x="822960" y="1371600"/>
            <a:ext cx="9144000" cy="365760"/>
          </a:xfrm>
          <a:prstGeom prst="rect">
            <a:avLst/>
          </a:prstGeom>
          <a:noFill/>
          <a:ln/>
        </p:spPr>
        <p:txBody>
          <a:bodyPr wrap="square" rtlCol="0" anchor="ctr"/>
          <a:lstStyle/>
          <a:p>
            <a:pPr marL="0" indent="0">
              <a:buNone/>
            </a:pPr>
            <a:r>
              <a:rPr lang="en-US" sz="1400" b="1" kern="0" spc="300" dirty="0">
                <a:solidFill>
                  <a:srgbClr val="FF8A3D"/>
                </a:solidFill>
                <a:latin typeface="Arial" pitchFamily="34" charset="0"/>
                <a:ea typeface="Arial" pitchFamily="34" charset="-122"/>
                <a:cs typeface="Arial" pitchFamily="34" charset="-120"/>
              </a:rPr>
              <a:t>ĐỒ ÁN MÔN PYTHON — HỌC KỲ 3</a:t>
            </a:r>
            <a:endParaRPr lang="en-US" sz="1400" dirty="0"/>
          </a:p>
        </p:txBody>
      </p:sp>
      <p:sp>
        <p:nvSpPr>
          <p:cNvPr id="6" name="Text 4"/>
          <p:cNvSpPr txBox="1"/>
          <p:nvPr/>
        </p:nvSpPr>
        <p:spPr>
          <a:xfrm>
            <a:off x="822960" y="1828800"/>
            <a:ext cx="9692640" cy="1828800"/>
          </a:xfrm>
          <a:prstGeom prst="rect">
            <a:avLst/>
          </a:prstGeom>
          <a:noFill/>
          <a:ln/>
        </p:spPr>
        <p:txBody>
          <a:bodyPr wrap="square" rtlCol="0" anchor="ctr"/>
          <a:lstStyle/>
          <a:p>
            <a:pPr marL="0" indent="0">
              <a:lnSpc>
                <a:spcPct val="108000"/>
              </a:lnSpc>
              <a:buNone/>
            </a:pPr>
            <a:r>
              <a:rPr lang="en-US" sz="4000" b="1" dirty="0">
                <a:solidFill>
                  <a:srgbClr val="FFFFFF"/>
                </a:solidFill>
                <a:latin typeface="Century Schoolbook" pitchFamily="34" charset="0"/>
                <a:ea typeface="Century Schoolbook" pitchFamily="34" charset="-122"/>
                <a:cs typeface="Century Schoolbook" pitchFamily="34" charset="-120"/>
              </a:rPr>
              <a:t>Ứng dụng hỗ trợ sàng lọc</a:t>
            </a:r>
            <a:endParaRPr lang="en-US" sz="4000" dirty="0"/>
          </a:p>
          <a:p>
            <a:pPr marL="0" indent="0">
              <a:lnSpc>
                <a:spcPct val="108000"/>
              </a:lnSpc>
              <a:buNone/>
            </a:pPr>
            <a:r>
              <a:rPr lang="en-US" sz="4000" b="1" dirty="0">
                <a:solidFill>
                  <a:srgbClr val="FFFFFF"/>
                </a:solidFill>
                <a:latin typeface="Century Schoolbook" pitchFamily="34" charset="0"/>
                <a:ea typeface="Century Schoolbook" pitchFamily="34" charset="-122"/>
                <a:cs typeface="Century Schoolbook" pitchFamily="34" charset="-120"/>
              </a:rPr>
              <a:t>và dự đoán nguy cơ tiểu đường</a:t>
            </a:r>
            <a:endParaRPr lang="en-US" sz="4000" dirty="0"/>
          </a:p>
        </p:txBody>
      </p:sp>
      <p:sp>
        <p:nvSpPr>
          <p:cNvPr id="7" name="Text 5"/>
          <p:cNvSpPr txBox="1"/>
          <p:nvPr/>
        </p:nvSpPr>
        <p:spPr>
          <a:xfrm>
            <a:off x="822960" y="3703320"/>
            <a:ext cx="7863840" cy="685800"/>
          </a:xfrm>
          <a:prstGeom prst="rect">
            <a:avLst/>
          </a:prstGeom>
          <a:noFill/>
          <a:ln/>
        </p:spPr>
        <p:txBody>
          <a:bodyPr wrap="square" rtlCol="0" anchor="ctr"/>
          <a:lstStyle/>
          <a:p>
            <a:pPr marL="0" indent="0">
              <a:lnSpc>
                <a:spcPct val="125000"/>
              </a:lnSpc>
              <a:buNone/>
            </a:pPr>
            <a:r>
              <a:rPr lang="en-US" sz="1400" dirty="0">
                <a:solidFill>
                  <a:srgbClr val="BFE3DA"/>
                </a:solidFill>
                <a:latin typeface="Arial" pitchFamily="34" charset="0"/>
                <a:ea typeface="Arial" pitchFamily="34" charset="-122"/>
                <a:cs typeface="Arial" pitchFamily="34" charset="-120"/>
              </a:rPr>
              <a:t>Phần mềm desktop Tkinter kết hợp hai mô hình Machine Learning độc lập: sàng lọc theo triệu chứng và đánh giá theo chỉ số lâm sàng.</a:t>
            </a:r>
            <a:endParaRPr lang="en-US" sz="1400" dirty="0"/>
          </a:p>
        </p:txBody>
      </p:sp>
      <p:sp>
        <p:nvSpPr>
          <p:cNvPr id="8" name="Shape 6"/>
          <p:cNvSpPr/>
          <p:nvPr/>
        </p:nvSpPr>
        <p:spPr>
          <a:xfrm>
            <a:off x="822960" y="4617720"/>
            <a:ext cx="1261872" cy="402336"/>
          </a:xfrm>
          <a:prstGeom prst="roundRect">
            <a:avLst>
              <a:gd name="adj" fmla="val 50000"/>
            </a:avLst>
          </a:prstGeom>
          <a:solidFill>
            <a:srgbClr val="123F3A"/>
          </a:solidFill>
          <a:ln w="9525">
            <a:solidFill>
              <a:srgbClr val="1C7293"/>
            </a:solidFill>
            <a:prstDash val="solid"/>
          </a:ln>
        </p:spPr>
      </p:sp>
      <p:sp>
        <p:nvSpPr>
          <p:cNvPr id="9" name="Text 7"/>
          <p:cNvSpPr txBox="1"/>
          <p:nvPr/>
        </p:nvSpPr>
        <p:spPr>
          <a:xfrm>
            <a:off x="822960" y="4617720"/>
            <a:ext cx="1261872" cy="402336"/>
          </a:xfrm>
          <a:prstGeom prst="rect">
            <a:avLst/>
          </a:prstGeom>
          <a:noFill/>
          <a:ln/>
        </p:spPr>
        <p:txBody>
          <a:bodyPr wrap="square" lIns="0" tIns="0" rIns="0" bIns="0"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Python 3.14</a:t>
            </a:r>
            <a:endParaRPr lang="en-US" sz="1100" dirty="0"/>
          </a:p>
        </p:txBody>
      </p:sp>
      <p:sp>
        <p:nvSpPr>
          <p:cNvPr id="10" name="Shape 8"/>
          <p:cNvSpPr/>
          <p:nvPr/>
        </p:nvSpPr>
        <p:spPr>
          <a:xfrm>
            <a:off x="2249424" y="4617720"/>
            <a:ext cx="896112" cy="402336"/>
          </a:xfrm>
          <a:prstGeom prst="roundRect">
            <a:avLst>
              <a:gd name="adj" fmla="val 50000"/>
            </a:avLst>
          </a:prstGeom>
          <a:solidFill>
            <a:srgbClr val="123F3A"/>
          </a:solidFill>
          <a:ln w="9525">
            <a:solidFill>
              <a:srgbClr val="1C7293"/>
            </a:solidFill>
            <a:prstDash val="solid"/>
          </a:ln>
        </p:spPr>
      </p:sp>
      <p:sp>
        <p:nvSpPr>
          <p:cNvPr id="11" name="Text 9"/>
          <p:cNvSpPr txBox="1"/>
          <p:nvPr/>
        </p:nvSpPr>
        <p:spPr>
          <a:xfrm>
            <a:off x="2249424" y="4617720"/>
            <a:ext cx="896112" cy="402336"/>
          </a:xfrm>
          <a:prstGeom prst="rect">
            <a:avLst/>
          </a:prstGeom>
          <a:noFill/>
          <a:ln/>
        </p:spPr>
        <p:txBody>
          <a:bodyPr wrap="square" lIns="0" tIns="0" rIns="0" bIns="0"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Tkinter</a:t>
            </a:r>
            <a:endParaRPr lang="en-US" sz="1100" dirty="0"/>
          </a:p>
        </p:txBody>
      </p:sp>
      <p:sp>
        <p:nvSpPr>
          <p:cNvPr id="12" name="Shape 10"/>
          <p:cNvSpPr/>
          <p:nvPr/>
        </p:nvSpPr>
        <p:spPr>
          <a:xfrm>
            <a:off x="3310128" y="4617720"/>
            <a:ext cx="1353312" cy="402336"/>
          </a:xfrm>
          <a:prstGeom prst="roundRect">
            <a:avLst>
              <a:gd name="adj" fmla="val 50000"/>
            </a:avLst>
          </a:prstGeom>
          <a:solidFill>
            <a:srgbClr val="123F3A"/>
          </a:solidFill>
          <a:ln w="9525">
            <a:solidFill>
              <a:srgbClr val="1C7293"/>
            </a:solidFill>
            <a:prstDash val="solid"/>
          </a:ln>
        </p:spPr>
      </p:sp>
      <p:sp>
        <p:nvSpPr>
          <p:cNvPr id="13" name="Text 11"/>
          <p:cNvSpPr txBox="1"/>
          <p:nvPr/>
        </p:nvSpPr>
        <p:spPr>
          <a:xfrm>
            <a:off x="3310128" y="4617720"/>
            <a:ext cx="1353312" cy="402336"/>
          </a:xfrm>
          <a:prstGeom prst="rect">
            <a:avLst/>
          </a:prstGeom>
          <a:noFill/>
          <a:ln/>
        </p:spPr>
        <p:txBody>
          <a:bodyPr wrap="square" lIns="0" tIns="0" rIns="0" bIns="0"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scikit-learn</a:t>
            </a:r>
            <a:endParaRPr lang="en-US" sz="1100" dirty="0"/>
          </a:p>
        </p:txBody>
      </p:sp>
      <p:sp>
        <p:nvSpPr>
          <p:cNvPr id="14" name="Shape 12"/>
          <p:cNvSpPr/>
          <p:nvPr/>
        </p:nvSpPr>
        <p:spPr>
          <a:xfrm>
            <a:off x="4828032" y="4617720"/>
            <a:ext cx="804672" cy="402336"/>
          </a:xfrm>
          <a:prstGeom prst="roundRect">
            <a:avLst>
              <a:gd name="adj" fmla="val 50000"/>
            </a:avLst>
          </a:prstGeom>
          <a:solidFill>
            <a:srgbClr val="123F3A"/>
          </a:solidFill>
          <a:ln w="9525">
            <a:solidFill>
              <a:srgbClr val="1C7293"/>
            </a:solidFill>
            <a:prstDash val="solid"/>
          </a:ln>
        </p:spPr>
      </p:sp>
      <p:sp>
        <p:nvSpPr>
          <p:cNvPr id="15" name="Text 13"/>
          <p:cNvSpPr txBox="1"/>
          <p:nvPr/>
        </p:nvSpPr>
        <p:spPr>
          <a:xfrm>
            <a:off x="4828032" y="4617720"/>
            <a:ext cx="804672" cy="402336"/>
          </a:xfrm>
          <a:prstGeom prst="rect">
            <a:avLst/>
          </a:prstGeom>
          <a:noFill/>
          <a:ln/>
        </p:spPr>
        <p:txBody>
          <a:bodyPr wrap="square" lIns="0" tIns="0" rIns="0" bIns="0"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SQLite</a:t>
            </a:r>
            <a:endParaRPr lang="en-US" sz="1100" dirty="0"/>
          </a:p>
        </p:txBody>
      </p:sp>
      <p:sp>
        <p:nvSpPr>
          <p:cNvPr id="16" name="Shape 14"/>
          <p:cNvSpPr/>
          <p:nvPr/>
        </p:nvSpPr>
        <p:spPr>
          <a:xfrm>
            <a:off x="5797296" y="4617720"/>
            <a:ext cx="1627632" cy="402336"/>
          </a:xfrm>
          <a:prstGeom prst="roundRect">
            <a:avLst>
              <a:gd name="adj" fmla="val 50000"/>
            </a:avLst>
          </a:prstGeom>
          <a:solidFill>
            <a:srgbClr val="123F3A"/>
          </a:solidFill>
          <a:ln w="9525">
            <a:solidFill>
              <a:srgbClr val="1C7293"/>
            </a:solidFill>
            <a:prstDash val="solid"/>
          </a:ln>
        </p:spPr>
      </p:sp>
      <p:sp>
        <p:nvSpPr>
          <p:cNvPr id="17" name="Text 15"/>
          <p:cNvSpPr txBox="1"/>
          <p:nvPr/>
        </p:nvSpPr>
        <p:spPr>
          <a:xfrm>
            <a:off x="5797296" y="4617720"/>
            <a:ext cx="1627632" cy="402336"/>
          </a:xfrm>
          <a:prstGeom prst="rect">
            <a:avLst/>
          </a:prstGeom>
          <a:noFill/>
          <a:ln/>
        </p:spPr>
        <p:txBody>
          <a:bodyPr wrap="square" lIns="0" tIns="0" rIns="0" bIns="0"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pandas / joblib</a:t>
            </a:r>
            <a:endParaRPr lang="en-US" sz="1100" dirty="0"/>
          </a:p>
        </p:txBody>
      </p:sp>
      <p:sp>
        <p:nvSpPr>
          <p:cNvPr id="18" name="Text 16"/>
          <p:cNvSpPr txBox="1"/>
          <p:nvPr/>
        </p:nvSpPr>
        <p:spPr>
          <a:xfrm>
            <a:off x="822960" y="5265324"/>
            <a:ext cx="7315200" cy="723996"/>
          </a:xfrm>
          <a:prstGeom prst="rect">
            <a:avLst/>
          </a:prstGeom>
          <a:noFill/>
          <a:ln/>
        </p:spPr>
        <p:txBody>
          <a:bodyPr wrap="square" rtlCol="0" anchor="ctr"/>
          <a:lstStyle/>
          <a:p>
            <a:r>
              <a:rPr lang="en-US" i="1" dirty="0" err="1">
                <a:solidFill>
                  <a:srgbClr val="9FD3C7"/>
                </a:solidFill>
                <a:latin typeface="Arial" pitchFamily="34" charset="0"/>
                <a:ea typeface="Arial" pitchFamily="34" charset="-122"/>
                <a:cs typeface="Arial" pitchFamily="34" charset="-120"/>
              </a:rPr>
              <a:t>Sinh</a:t>
            </a:r>
            <a:r>
              <a:rPr lang="en-US" i="1" dirty="0">
                <a:solidFill>
                  <a:srgbClr val="9FD3C7"/>
                </a:solidFill>
                <a:latin typeface="Arial" pitchFamily="34" charset="0"/>
                <a:ea typeface="Arial" pitchFamily="34" charset="-122"/>
                <a:cs typeface="Arial" pitchFamily="34" charset="-120"/>
              </a:rPr>
              <a:t> </a:t>
            </a:r>
            <a:r>
              <a:rPr lang="en-US" i="1" dirty="0" err="1">
                <a:solidFill>
                  <a:srgbClr val="9FD3C7"/>
                </a:solidFill>
                <a:latin typeface="Arial" pitchFamily="34" charset="0"/>
                <a:ea typeface="Arial" pitchFamily="34" charset="-122"/>
                <a:cs typeface="Arial" pitchFamily="34" charset="-120"/>
              </a:rPr>
              <a:t>viên</a:t>
            </a:r>
            <a:r>
              <a:rPr lang="en-US" i="1" dirty="0">
                <a:solidFill>
                  <a:srgbClr val="9FD3C7"/>
                </a:solidFill>
                <a:latin typeface="Arial" pitchFamily="34" charset="0"/>
                <a:ea typeface="Arial" pitchFamily="34" charset="-122"/>
                <a:cs typeface="Arial" pitchFamily="34" charset="-120"/>
              </a:rPr>
              <a:t> </a:t>
            </a:r>
            <a:r>
              <a:rPr lang="en-US" i="1" dirty="0" err="1">
                <a:solidFill>
                  <a:srgbClr val="9FD3C7"/>
                </a:solidFill>
                <a:latin typeface="Arial" pitchFamily="34" charset="0"/>
                <a:ea typeface="Arial" pitchFamily="34" charset="-122"/>
                <a:cs typeface="Arial" pitchFamily="34" charset="-120"/>
              </a:rPr>
              <a:t>thực</a:t>
            </a:r>
            <a:r>
              <a:rPr lang="en-US" i="1" dirty="0">
                <a:solidFill>
                  <a:srgbClr val="9FD3C7"/>
                </a:solidFill>
                <a:latin typeface="Arial" pitchFamily="34" charset="0"/>
                <a:ea typeface="Arial" pitchFamily="34" charset="-122"/>
                <a:cs typeface="Arial" pitchFamily="34" charset="-120"/>
              </a:rPr>
              <a:t> </a:t>
            </a:r>
            <a:r>
              <a:rPr lang="en-US" i="1" dirty="0" err="1">
                <a:solidFill>
                  <a:srgbClr val="9FD3C7"/>
                </a:solidFill>
                <a:latin typeface="Arial" pitchFamily="34" charset="0"/>
                <a:ea typeface="Arial" pitchFamily="34" charset="-122"/>
                <a:cs typeface="Arial" pitchFamily="34" charset="-120"/>
              </a:rPr>
              <a:t>hiện</a:t>
            </a:r>
            <a:r>
              <a:rPr lang="en-US" i="1" dirty="0">
                <a:solidFill>
                  <a:srgbClr val="9FD3C7"/>
                </a:solidFill>
                <a:latin typeface="Arial" pitchFamily="34" charset="0"/>
                <a:ea typeface="Arial" pitchFamily="34" charset="-122"/>
                <a:cs typeface="Arial" pitchFamily="34" charset="-120"/>
              </a:rPr>
              <a:t>: </a:t>
            </a:r>
            <a:r>
              <a:rPr lang="en-US" i="1" dirty="0" err="1">
                <a:solidFill>
                  <a:srgbClr val="9FD3C7"/>
                </a:solidFill>
                <a:latin typeface="Arial" pitchFamily="34" charset="0"/>
                <a:ea typeface="Arial" pitchFamily="34" charset="-122"/>
                <a:cs typeface="Arial" pitchFamily="34" charset="-120"/>
              </a:rPr>
              <a:t>Nguyễn</a:t>
            </a:r>
            <a:r>
              <a:rPr lang="en-US" i="1" dirty="0">
                <a:solidFill>
                  <a:srgbClr val="9FD3C7"/>
                </a:solidFill>
                <a:latin typeface="Arial" pitchFamily="34" charset="0"/>
                <a:ea typeface="Arial" pitchFamily="34" charset="-122"/>
                <a:cs typeface="Arial" pitchFamily="34" charset="-120"/>
              </a:rPr>
              <a:t> </a:t>
            </a:r>
            <a:r>
              <a:rPr lang="en-US" i="1" dirty="0" err="1">
                <a:solidFill>
                  <a:srgbClr val="9FD3C7"/>
                </a:solidFill>
                <a:latin typeface="Arial" pitchFamily="34" charset="0"/>
                <a:ea typeface="Arial" pitchFamily="34" charset="-122"/>
                <a:cs typeface="Arial" pitchFamily="34" charset="-120"/>
              </a:rPr>
              <a:t>Xuân</a:t>
            </a:r>
            <a:r>
              <a:rPr lang="en-US" i="1" dirty="0">
                <a:solidFill>
                  <a:srgbClr val="9FD3C7"/>
                </a:solidFill>
                <a:latin typeface="Arial" pitchFamily="34" charset="0"/>
                <a:ea typeface="Arial" pitchFamily="34" charset="-122"/>
                <a:cs typeface="Arial" pitchFamily="34" charset="-120"/>
              </a:rPr>
              <a:t> </a:t>
            </a:r>
            <a:r>
              <a:rPr lang="en-US" i="1" dirty="0" err="1">
                <a:solidFill>
                  <a:srgbClr val="9FD3C7"/>
                </a:solidFill>
                <a:latin typeface="Arial" pitchFamily="34" charset="0"/>
                <a:ea typeface="Arial" pitchFamily="34" charset="-122"/>
                <a:cs typeface="Arial" pitchFamily="34" charset="-120"/>
              </a:rPr>
              <a:t>Hiếu</a:t>
            </a:r>
            <a:r>
              <a:rPr lang="en-US" i="1" dirty="0">
                <a:solidFill>
                  <a:srgbClr val="9FD3C7"/>
                </a:solidFill>
                <a:latin typeface="Arial" pitchFamily="34" charset="0"/>
                <a:ea typeface="Arial" pitchFamily="34" charset="-122"/>
                <a:cs typeface="Arial" pitchFamily="34" charset="-120"/>
              </a:rPr>
              <a:t> – 25410212</a:t>
            </a:r>
            <a:br>
              <a:rPr lang="en-US" i="1" dirty="0">
                <a:solidFill>
                  <a:srgbClr val="9FD3C7"/>
                </a:solidFill>
                <a:latin typeface="Arial" pitchFamily="34" charset="0"/>
                <a:ea typeface="Arial" pitchFamily="34" charset="-122"/>
                <a:cs typeface="Arial" pitchFamily="34" charset="-120"/>
              </a:rPr>
            </a:br>
            <a:r>
              <a:rPr lang="en-US" i="1" dirty="0" err="1" smtClean="0">
                <a:solidFill>
                  <a:srgbClr val="9FD3C7"/>
                </a:solidFill>
                <a:latin typeface="Arial" pitchFamily="34" charset="0"/>
                <a:ea typeface="Arial" pitchFamily="34" charset="-122"/>
                <a:cs typeface="Arial" pitchFamily="34" charset="-120"/>
              </a:rPr>
              <a:t>Nhóm</a:t>
            </a:r>
            <a:r>
              <a:rPr lang="en-US" i="1" dirty="0" smtClean="0">
                <a:solidFill>
                  <a:srgbClr val="9FD3C7"/>
                </a:solidFill>
                <a:latin typeface="Arial" pitchFamily="34" charset="0"/>
                <a:ea typeface="Arial" pitchFamily="34" charset="-122"/>
                <a:cs typeface="Arial" pitchFamily="34" charset="-120"/>
              </a:rPr>
              <a:t> 29</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0058400" cy="274320"/>
          </a:xfrm>
          <a:prstGeom prst="rect">
            <a:avLst/>
          </a:prstGeom>
          <a:noFill/>
          <a:ln/>
        </p:spPr>
        <p:txBody>
          <a:bodyPr wrap="square" rtlCol="0" anchor="t"/>
          <a:lstStyle/>
          <a:p>
            <a:pPr marL="0" indent="0">
              <a:buNone/>
            </a:pPr>
            <a:r>
              <a:rPr lang="en-US" sz="1200" b="1" kern="0" spc="200" dirty="0">
                <a:solidFill>
                  <a:srgbClr val="0F5C57"/>
                </a:solidFill>
                <a:latin typeface="Arial" pitchFamily="34" charset="0"/>
                <a:ea typeface="Arial" pitchFamily="34" charset="-122"/>
                <a:cs typeface="Arial" pitchFamily="34" charset="-120"/>
              </a:rPr>
              <a:t>BỐI CẢNH ĐỒ ÁN</a:t>
            </a:r>
            <a:endParaRPr lang="en-US" sz="1200" dirty="0"/>
          </a:p>
        </p:txBody>
      </p:sp>
      <p:sp>
        <p:nvSpPr>
          <p:cNvPr id="3" name="Text 1"/>
          <p:cNvSpPr txBox="1"/>
          <p:nvPr/>
        </p:nvSpPr>
        <p:spPr>
          <a:xfrm>
            <a:off x="457200" y="566928"/>
            <a:ext cx="11247120" cy="640080"/>
          </a:xfrm>
          <a:prstGeom prst="rect">
            <a:avLst/>
          </a:prstGeom>
          <a:noFill/>
          <a:ln/>
        </p:spPr>
        <p:txBody>
          <a:bodyPr wrap="square" rtlCol="0" anchor="t"/>
          <a:lstStyle/>
          <a:p>
            <a:pPr marL="0" indent="0">
              <a:buNone/>
            </a:pPr>
            <a:r>
              <a:rPr lang="en-US" sz="2800" b="1" dirty="0">
                <a:solidFill>
                  <a:srgbClr val="1A1F36"/>
                </a:solidFill>
                <a:latin typeface="Century Schoolbook" pitchFamily="34" charset="0"/>
                <a:ea typeface="Century Schoolbook" pitchFamily="34" charset="-122"/>
                <a:cs typeface="Century Schoolbook" pitchFamily="34" charset="-120"/>
              </a:rPr>
              <a:t>Vấn đề đặt ra &amp; mục tiêu</a:t>
            </a:r>
            <a:endParaRPr lang="en-US" sz="2800" dirty="0"/>
          </a:p>
        </p:txBody>
      </p:sp>
      <p:sp>
        <p:nvSpPr>
          <p:cNvPr id="4" name="Shape 2"/>
          <p:cNvSpPr/>
          <p:nvPr/>
        </p:nvSpPr>
        <p:spPr>
          <a:xfrm>
            <a:off x="457200" y="1554480"/>
            <a:ext cx="11274552" cy="1234440"/>
          </a:xfrm>
          <a:prstGeom prst="roundRect">
            <a:avLst>
              <a:gd name="adj" fmla="val 6667"/>
            </a:avLst>
          </a:prstGeom>
          <a:solidFill>
            <a:srgbClr val="0B4642"/>
          </a:solidFill>
          <a:ln/>
          <a:effectLst>
            <a:outerShdw blurRad="63500" dist="25400" dir="5400000" algn="bl" rotWithShape="0">
              <a:srgbClr val="8FB3AC">
                <a:alpha val="30000"/>
              </a:srgbClr>
            </a:outerShdw>
          </a:effectLst>
        </p:spPr>
      </p:sp>
      <p:sp>
        <p:nvSpPr>
          <p:cNvPr id="5" name="Text 3"/>
          <p:cNvSpPr txBox="1"/>
          <p:nvPr/>
        </p:nvSpPr>
        <p:spPr>
          <a:xfrm>
            <a:off x="777240" y="1737360"/>
            <a:ext cx="10607040" cy="868680"/>
          </a:xfrm>
          <a:prstGeom prst="rect">
            <a:avLst/>
          </a:prstGeom>
          <a:noFill/>
          <a:ln/>
        </p:spPr>
        <p:txBody>
          <a:bodyPr wrap="square" rtlCol="0" anchor="ctr"/>
          <a:lstStyle/>
          <a:p>
            <a:pPr marL="0" indent="0">
              <a:lnSpc>
                <a:spcPct val="125000"/>
              </a:lnSpc>
              <a:buNone/>
            </a:pPr>
            <a:r>
              <a:rPr lang="en-US" sz="1450" dirty="0">
                <a:solidFill>
                  <a:srgbClr val="FFFFFF"/>
                </a:solidFill>
                <a:latin typeface="Arial" pitchFamily="34" charset="0"/>
                <a:ea typeface="Arial" pitchFamily="34" charset="-122"/>
                <a:cs typeface="Arial" pitchFamily="34" charset="-120"/>
              </a:rPr>
              <a:t>Tiểu đường là bệnh mãn tính diễn tiến âm thầm. Rất nhiều người mang nguy cơ mắc bệnh nhưng không biết, vì triệu chứng ban đầu mờ nhạt và không phải ai cũng có điều kiện đi xét nghiệm định kỳ.</a:t>
            </a:r>
            <a:endParaRPr lang="en-US" sz="1450" dirty="0"/>
          </a:p>
        </p:txBody>
      </p:sp>
      <p:sp>
        <p:nvSpPr>
          <p:cNvPr id="6" name="Text 4"/>
          <p:cNvSpPr txBox="1"/>
          <p:nvPr/>
        </p:nvSpPr>
        <p:spPr>
          <a:xfrm>
            <a:off x="457200" y="3063240"/>
            <a:ext cx="5486400" cy="320040"/>
          </a:xfrm>
          <a:prstGeom prst="rect">
            <a:avLst/>
          </a:prstGeom>
          <a:noFill/>
          <a:ln/>
        </p:spPr>
        <p:txBody>
          <a:bodyPr wrap="square" rtlCol="0" anchor="ctr"/>
          <a:lstStyle/>
          <a:p>
            <a:pPr marL="0" indent="0">
              <a:buNone/>
            </a:pPr>
            <a:r>
              <a:rPr lang="en-US" sz="1300" b="1" kern="0" spc="200" dirty="0">
                <a:solidFill>
                  <a:srgbClr val="0F5C57"/>
                </a:solidFill>
                <a:latin typeface="Arial" pitchFamily="34" charset="0"/>
                <a:ea typeface="Arial" pitchFamily="34" charset="-122"/>
                <a:cs typeface="Arial" pitchFamily="34" charset="-120"/>
              </a:rPr>
              <a:t>MỤC TIÊU ĐỒ ÁN</a:t>
            </a:r>
            <a:endParaRPr lang="en-US" sz="1300" dirty="0"/>
          </a:p>
        </p:txBody>
      </p:sp>
      <p:sp>
        <p:nvSpPr>
          <p:cNvPr id="7" name="Shape 5"/>
          <p:cNvSpPr/>
          <p:nvPr/>
        </p:nvSpPr>
        <p:spPr>
          <a:xfrm>
            <a:off x="457200" y="3474720"/>
            <a:ext cx="2697480" cy="2331720"/>
          </a:xfrm>
          <a:prstGeom prst="roundRect">
            <a:avLst>
              <a:gd name="adj" fmla="val 3529"/>
            </a:avLst>
          </a:prstGeom>
          <a:solidFill>
            <a:srgbClr val="EAF3F1"/>
          </a:solidFill>
          <a:ln/>
          <a:effectLst>
            <a:outerShdw blurRad="63500" dist="25400" dir="5400000" algn="bl" rotWithShape="0">
              <a:srgbClr val="8FB3AC">
                <a:alpha val="30000"/>
              </a:srgbClr>
            </a:outerShdw>
          </a:effectLst>
        </p:spPr>
      </p:sp>
      <p:sp>
        <p:nvSpPr>
          <p:cNvPr id="8" name="Shape 6"/>
          <p:cNvSpPr/>
          <p:nvPr/>
        </p:nvSpPr>
        <p:spPr>
          <a:xfrm>
            <a:off x="685800" y="3703320"/>
            <a:ext cx="502920" cy="502920"/>
          </a:xfrm>
          <a:prstGeom prst="ellipse">
            <a:avLst/>
          </a:prstGeom>
          <a:solidFill>
            <a:srgbClr val="0F5C57"/>
          </a:solidFill>
          <a:ln/>
        </p:spPr>
      </p:sp>
      <p:sp>
        <p:nvSpPr>
          <p:cNvPr id="9" name="Text 7"/>
          <p:cNvSpPr txBox="1"/>
          <p:nvPr/>
        </p:nvSpPr>
        <p:spPr>
          <a:xfrm>
            <a:off x="685800" y="37033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0" name="Text 8"/>
          <p:cNvSpPr txBox="1"/>
          <p:nvPr/>
        </p:nvSpPr>
        <p:spPr>
          <a:xfrm>
            <a:off x="685800" y="4343400"/>
            <a:ext cx="2240280" cy="502920"/>
          </a:xfrm>
          <a:prstGeom prst="rect">
            <a:avLst/>
          </a:prstGeom>
          <a:noFill/>
          <a:ln/>
        </p:spPr>
        <p:txBody>
          <a:bodyPr wrap="square" rtlCol="0" anchor="t"/>
          <a:lstStyle/>
          <a:p>
            <a:pPr marL="0" indent="0">
              <a:lnSpc>
                <a:spcPct val="110000"/>
              </a:lnSpc>
              <a:buNone/>
            </a:pPr>
            <a:r>
              <a:rPr lang="en-US" sz="1350" b="1" dirty="0">
                <a:solidFill>
                  <a:srgbClr val="1A1F36"/>
                </a:solidFill>
                <a:latin typeface="Arial" pitchFamily="34" charset="0"/>
                <a:ea typeface="Arial" pitchFamily="34" charset="-122"/>
                <a:cs typeface="Arial" pitchFamily="34" charset="-120"/>
              </a:rPr>
              <a:t>Quản lý hồ sơ</a:t>
            </a:r>
            <a:endParaRPr lang="en-US" sz="1350" dirty="0"/>
          </a:p>
        </p:txBody>
      </p:sp>
      <p:sp>
        <p:nvSpPr>
          <p:cNvPr id="11" name="Text 9"/>
          <p:cNvSpPr txBox="1"/>
          <p:nvPr/>
        </p:nvSpPr>
        <p:spPr>
          <a:xfrm>
            <a:off x="685800" y="4828032"/>
            <a:ext cx="2240280" cy="868680"/>
          </a:xfrm>
          <a:prstGeom prst="rect">
            <a:avLst/>
          </a:prstGeom>
          <a:noFill/>
          <a:ln/>
        </p:spPr>
        <p:txBody>
          <a:bodyPr wrap="square" rtlCol="0" anchor="t"/>
          <a:lstStyle/>
          <a:p>
            <a:pPr marL="0" indent="0">
              <a:lnSpc>
                <a:spcPct val="125000"/>
              </a:lnSpc>
              <a:buNone/>
            </a:pPr>
            <a:r>
              <a:rPr lang="en-US" sz="1100" dirty="0">
                <a:solidFill>
                  <a:srgbClr val="6B7280"/>
                </a:solidFill>
                <a:latin typeface="Arial" pitchFamily="34" charset="0"/>
                <a:ea typeface="Arial" pitchFamily="34" charset="-122"/>
                <a:cs typeface="Arial" pitchFamily="34" charset="-120"/>
              </a:rPr>
              <a:t>Phần mềm desktop bằng Tkinter, quản lý hồ sơ bệnh nhân và lịch sử đánh giá.</a:t>
            </a:r>
            <a:endParaRPr lang="en-US" sz="1100" dirty="0"/>
          </a:p>
        </p:txBody>
      </p:sp>
      <p:sp>
        <p:nvSpPr>
          <p:cNvPr id="12" name="Shape 10"/>
          <p:cNvSpPr/>
          <p:nvPr/>
        </p:nvSpPr>
        <p:spPr>
          <a:xfrm>
            <a:off x="3300984" y="3474720"/>
            <a:ext cx="2697480" cy="2331720"/>
          </a:xfrm>
          <a:prstGeom prst="roundRect">
            <a:avLst>
              <a:gd name="adj" fmla="val 3529"/>
            </a:avLst>
          </a:prstGeom>
          <a:solidFill>
            <a:srgbClr val="EAF3F1"/>
          </a:solidFill>
          <a:ln/>
          <a:effectLst>
            <a:outerShdw blurRad="63500" dist="25400" dir="5400000" algn="bl" rotWithShape="0">
              <a:srgbClr val="8FB3AC">
                <a:alpha val="30000"/>
              </a:srgbClr>
            </a:outerShdw>
          </a:effectLst>
        </p:spPr>
      </p:sp>
      <p:sp>
        <p:nvSpPr>
          <p:cNvPr id="13" name="Shape 11"/>
          <p:cNvSpPr/>
          <p:nvPr/>
        </p:nvSpPr>
        <p:spPr>
          <a:xfrm>
            <a:off x="3529584" y="3703320"/>
            <a:ext cx="502920" cy="502920"/>
          </a:xfrm>
          <a:prstGeom prst="ellipse">
            <a:avLst/>
          </a:prstGeom>
          <a:solidFill>
            <a:srgbClr val="0F5C57"/>
          </a:solidFill>
          <a:ln/>
        </p:spPr>
      </p:sp>
      <p:sp>
        <p:nvSpPr>
          <p:cNvPr id="14" name="Text 12"/>
          <p:cNvSpPr txBox="1"/>
          <p:nvPr/>
        </p:nvSpPr>
        <p:spPr>
          <a:xfrm>
            <a:off x="3529584" y="37033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5" name="Text 13"/>
          <p:cNvSpPr txBox="1"/>
          <p:nvPr/>
        </p:nvSpPr>
        <p:spPr>
          <a:xfrm>
            <a:off x="3529584" y="4343400"/>
            <a:ext cx="2240280" cy="502920"/>
          </a:xfrm>
          <a:prstGeom prst="rect">
            <a:avLst/>
          </a:prstGeom>
          <a:noFill/>
          <a:ln/>
        </p:spPr>
        <p:txBody>
          <a:bodyPr wrap="square" rtlCol="0" anchor="t"/>
          <a:lstStyle/>
          <a:p>
            <a:pPr marL="0" indent="0">
              <a:lnSpc>
                <a:spcPct val="110000"/>
              </a:lnSpc>
              <a:buNone/>
            </a:pPr>
            <a:r>
              <a:rPr lang="en-US" sz="1350" b="1" dirty="0">
                <a:solidFill>
                  <a:srgbClr val="1A1F36"/>
                </a:solidFill>
                <a:latin typeface="Arial" pitchFamily="34" charset="0"/>
                <a:ea typeface="Arial" pitchFamily="34" charset="-122"/>
                <a:cs typeface="Arial" pitchFamily="34" charset="-120"/>
              </a:rPr>
              <a:t>Sàng lọc triệu chứng</a:t>
            </a:r>
            <a:endParaRPr lang="en-US" sz="1350" dirty="0"/>
          </a:p>
        </p:txBody>
      </p:sp>
      <p:sp>
        <p:nvSpPr>
          <p:cNvPr id="16" name="Text 14"/>
          <p:cNvSpPr txBox="1"/>
          <p:nvPr/>
        </p:nvSpPr>
        <p:spPr>
          <a:xfrm>
            <a:off x="3529584" y="4828032"/>
            <a:ext cx="2240280" cy="868680"/>
          </a:xfrm>
          <a:prstGeom prst="rect">
            <a:avLst/>
          </a:prstGeom>
          <a:noFill/>
          <a:ln/>
        </p:spPr>
        <p:txBody>
          <a:bodyPr wrap="square" rtlCol="0" anchor="t"/>
          <a:lstStyle/>
          <a:p>
            <a:pPr marL="0" indent="0">
              <a:lnSpc>
                <a:spcPct val="125000"/>
              </a:lnSpc>
              <a:buNone/>
            </a:pPr>
            <a:r>
              <a:rPr lang="en-US" sz="1100" dirty="0">
                <a:solidFill>
                  <a:srgbClr val="6B7280"/>
                </a:solidFill>
                <a:latin typeface="Arial" pitchFamily="34" charset="0"/>
                <a:ea typeface="Arial" pitchFamily="34" charset="-122"/>
                <a:cs typeface="Arial" pitchFamily="34" charset="-120"/>
              </a:rPr>
              <a:t>Sàng lọc nhanh theo 14 triệu chứng lâm sàng, không cần kết quả xét nghiệm.</a:t>
            </a:r>
            <a:endParaRPr lang="en-US" sz="1100" dirty="0"/>
          </a:p>
        </p:txBody>
      </p:sp>
      <p:sp>
        <p:nvSpPr>
          <p:cNvPr id="17" name="Shape 15"/>
          <p:cNvSpPr/>
          <p:nvPr/>
        </p:nvSpPr>
        <p:spPr>
          <a:xfrm>
            <a:off x="6144768" y="3474720"/>
            <a:ext cx="2697480" cy="2331720"/>
          </a:xfrm>
          <a:prstGeom prst="roundRect">
            <a:avLst>
              <a:gd name="adj" fmla="val 3529"/>
            </a:avLst>
          </a:prstGeom>
          <a:solidFill>
            <a:srgbClr val="EAF3F1"/>
          </a:solidFill>
          <a:ln/>
          <a:effectLst>
            <a:outerShdw blurRad="63500" dist="25400" dir="5400000" algn="bl" rotWithShape="0">
              <a:srgbClr val="8FB3AC">
                <a:alpha val="30000"/>
              </a:srgbClr>
            </a:outerShdw>
          </a:effectLst>
        </p:spPr>
      </p:sp>
      <p:sp>
        <p:nvSpPr>
          <p:cNvPr id="18" name="Shape 16"/>
          <p:cNvSpPr/>
          <p:nvPr/>
        </p:nvSpPr>
        <p:spPr>
          <a:xfrm>
            <a:off x="6373368" y="3703320"/>
            <a:ext cx="502920" cy="502920"/>
          </a:xfrm>
          <a:prstGeom prst="ellipse">
            <a:avLst/>
          </a:prstGeom>
          <a:solidFill>
            <a:srgbClr val="0F5C57"/>
          </a:solidFill>
          <a:ln/>
        </p:spPr>
      </p:sp>
      <p:sp>
        <p:nvSpPr>
          <p:cNvPr id="19" name="Text 17"/>
          <p:cNvSpPr txBox="1"/>
          <p:nvPr/>
        </p:nvSpPr>
        <p:spPr>
          <a:xfrm>
            <a:off x="6373368" y="37033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0" name="Text 18"/>
          <p:cNvSpPr txBox="1"/>
          <p:nvPr/>
        </p:nvSpPr>
        <p:spPr>
          <a:xfrm>
            <a:off x="6373368" y="4343400"/>
            <a:ext cx="2240280" cy="502920"/>
          </a:xfrm>
          <a:prstGeom prst="rect">
            <a:avLst/>
          </a:prstGeom>
          <a:noFill/>
          <a:ln/>
        </p:spPr>
        <p:txBody>
          <a:bodyPr wrap="square" rtlCol="0" anchor="t"/>
          <a:lstStyle/>
          <a:p>
            <a:pPr marL="0" indent="0">
              <a:lnSpc>
                <a:spcPct val="110000"/>
              </a:lnSpc>
              <a:buNone/>
            </a:pPr>
            <a:r>
              <a:rPr lang="en-US" sz="1350" b="1" dirty="0">
                <a:solidFill>
                  <a:srgbClr val="1A1F36"/>
                </a:solidFill>
                <a:latin typeface="Arial" pitchFamily="34" charset="0"/>
                <a:ea typeface="Arial" pitchFamily="34" charset="-122"/>
                <a:cs typeface="Arial" pitchFamily="34" charset="-120"/>
              </a:rPr>
              <a:t>Đánh giá chỉ số</a:t>
            </a:r>
            <a:endParaRPr lang="en-US" sz="1350" dirty="0"/>
          </a:p>
        </p:txBody>
      </p:sp>
      <p:sp>
        <p:nvSpPr>
          <p:cNvPr id="21" name="Text 19"/>
          <p:cNvSpPr txBox="1"/>
          <p:nvPr/>
        </p:nvSpPr>
        <p:spPr>
          <a:xfrm>
            <a:off x="6373368" y="4828032"/>
            <a:ext cx="2240280" cy="868680"/>
          </a:xfrm>
          <a:prstGeom prst="rect">
            <a:avLst/>
          </a:prstGeom>
          <a:noFill/>
          <a:ln/>
        </p:spPr>
        <p:txBody>
          <a:bodyPr wrap="square" rtlCol="0" anchor="t"/>
          <a:lstStyle/>
          <a:p>
            <a:pPr marL="0" indent="0">
              <a:lnSpc>
                <a:spcPct val="125000"/>
              </a:lnSpc>
              <a:buNone/>
            </a:pPr>
            <a:r>
              <a:rPr lang="en-US" sz="1100" dirty="0">
                <a:solidFill>
                  <a:srgbClr val="6B7280"/>
                </a:solidFill>
                <a:latin typeface="Arial" pitchFamily="34" charset="0"/>
                <a:ea typeface="Arial" pitchFamily="34" charset="-122"/>
                <a:cs typeface="Arial" pitchFamily="34" charset="-120"/>
              </a:rPr>
              <a:t>Đánh giá chính xác hơn dựa trên 7 chỉ số xét nghiệm thực tế.</a:t>
            </a:r>
            <a:endParaRPr lang="en-US" sz="1100" dirty="0"/>
          </a:p>
        </p:txBody>
      </p:sp>
      <p:sp>
        <p:nvSpPr>
          <p:cNvPr id="22" name="Shape 20"/>
          <p:cNvSpPr/>
          <p:nvPr/>
        </p:nvSpPr>
        <p:spPr>
          <a:xfrm>
            <a:off x="8988552" y="3474720"/>
            <a:ext cx="2697480" cy="2331720"/>
          </a:xfrm>
          <a:prstGeom prst="roundRect">
            <a:avLst>
              <a:gd name="adj" fmla="val 3529"/>
            </a:avLst>
          </a:prstGeom>
          <a:solidFill>
            <a:srgbClr val="EAF3F1"/>
          </a:solidFill>
          <a:ln/>
          <a:effectLst>
            <a:outerShdw blurRad="63500" dist="25400" dir="5400000" algn="bl" rotWithShape="0">
              <a:srgbClr val="8FB3AC">
                <a:alpha val="30000"/>
              </a:srgbClr>
            </a:outerShdw>
          </a:effectLst>
        </p:spPr>
      </p:sp>
      <p:sp>
        <p:nvSpPr>
          <p:cNvPr id="23" name="Shape 21"/>
          <p:cNvSpPr/>
          <p:nvPr/>
        </p:nvSpPr>
        <p:spPr>
          <a:xfrm>
            <a:off x="9217152" y="3703320"/>
            <a:ext cx="502920" cy="502920"/>
          </a:xfrm>
          <a:prstGeom prst="ellipse">
            <a:avLst/>
          </a:prstGeom>
          <a:solidFill>
            <a:srgbClr val="0F5C57"/>
          </a:solidFill>
          <a:ln/>
        </p:spPr>
      </p:sp>
      <p:sp>
        <p:nvSpPr>
          <p:cNvPr id="24" name="Text 22"/>
          <p:cNvSpPr txBox="1"/>
          <p:nvPr/>
        </p:nvSpPr>
        <p:spPr>
          <a:xfrm>
            <a:off x="9217152" y="37033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5" name="Text 23"/>
          <p:cNvSpPr txBox="1"/>
          <p:nvPr/>
        </p:nvSpPr>
        <p:spPr>
          <a:xfrm>
            <a:off x="9217152" y="4343400"/>
            <a:ext cx="2240280" cy="502920"/>
          </a:xfrm>
          <a:prstGeom prst="rect">
            <a:avLst/>
          </a:prstGeom>
          <a:noFill/>
          <a:ln/>
        </p:spPr>
        <p:txBody>
          <a:bodyPr wrap="square" rtlCol="0" anchor="t"/>
          <a:lstStyle/>
          <a:p>
            <a:pPr marL="0" indent="0">
              <a:lnSpc>
                <a:spcPct val="110000"/>
              </a:lnSpc>
              <a:buNone/>
            </a:pPr>
            <a:r>
              <a:rPr lang="en-US" sz="1350" b="1" dirty="0">
                <a:solidFill>
                  <a:srgbClr val="1A1F36"/>
                </a:solidFill>
                <a:latin typeface="Arial" pitchFamily="34" charset="0"/>
                <a:ea typeface="Arial" pitchFamily="34" charset="-122"/>
                <a:cs typeface="Arial" pitchFamily="34" charset="-120"/>
              </a:rPr>
              <a:t>Dự đoán bằng ML</a:t>
            </a:r>
            <a:endParaRPr lang="en-US" sz="1350" dirty="0"/>
          </a:p>
        </p:txBody>
      </p:sp>
      <p:sp>
        <p:nvSpPr>
          <p:cNvPr id="26" name="Text 24"/>
          <p:cNvSpPr txBox="1"/>
          <p:nvPr/>
        </p:nvSpPr>
        <p:spPr>
          <a:xfrm>
            <a:off x="9217152" y="4828032"/>
            <a:ext cx="2240280" cy="868680"/>
          </a:xfrm>
          <a:prstGeom prst="rect">
            <a:avLst/>
          </a:prstGeom>
          <a:noFill/>
          <a:ln/>
        </p:spPr>
        <p:txBody>
          <a:bodyPr wrap="square" rtlCol="0" anchor="t"/>
          <a:lstStyle/>
          <a:p>
            <a:pPr marL="0" indent="0">
              <a:lnSpc>
                <a:spcPct val="125000"/>
              </a:lnSpc>
              <a:buNone/>
            </a:pPr>
            <a:r>
              <a:rPr lang="en-US" sz="1100" dirty="0">
                <a:solidFill>
                  <a:srgbClr val="6B7280"/>
                </a:solidFill>
                <a:latin typeface="Arial" pitchFamily="34" charset="0"/>
                <a:ea typeface="Arial" pitchFamily="34" charset="-122"/>
                <a:cs typeface="Arial" pitchFamily="34" charset="-120"/>
              </a:rPr>
              <a:t>Dùng Machine Learning để đưa ra xác suất và phân mức rủi ro rõ ràng.</a:t>
            </a:r>
            <a:endParaRPr lang="en-US" sz="1100" dirty="0"/>
          </a:p>
        </p:txBody>
      </p:sp>
      <p:sp>
        <p:nvSpPr>
          <p:cNvPr id="27" name="Text 25"/>
          <p:cNvSpPr txBox="1"/>
          <p:nvPr/>
        </p:nvSpPr>
        <p:spPr>
          <a:xfrm>
            <a:off x="11000232" y="6473952"/>
            <a:ext cx="914400" cy="274320"/>
          </a:xfrm>
          <a:prstGeom prst="rect">
            <a:avLst/>
          </a:prstGeom>
          <a:noFill/>
          <a:ln/>
        </p:spPr>
        <p:txBody>
          <a:bodyPr wrap="square" rtlCol="0" anchor="ctr"/>
          <a:lstStyle/>
          <a:p>
            <a:pPr marL="0" indent="0" algn="r">
              <a:buNone/>
            </a:pPr>
            <a:r>
              <a:rPr lang="en-US" sz="900" dirty="0">
                <a:solidFill>
                  <a:srgbClr val="6B7280"/>
                </a:solidFill>
                <a:latin typeface="Arial" pitchFamily="34" charset="0"/>
                <a:ea typeface="Arial" pitchFamily="34" charset="-122"/>
                <a:cs typeface="Arial" pitchFamily="34" charset="-120"/>
              </a:rPr>
              <a:t>02 / 11</a:t>
            </a:r>
            <a:endParaRPr lang="en-US" sz="900" dirty="0"/>
          </a:p>
        </p:txBody>
      </p:sp>
      <p:sp>
        <p:nvSpPr>
          <p:cNvPr id="28" name="Text 26"/>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Arial" pitchFamily="34" charset="0"/>
                <a:ea typeface="Arial" pitchFamily="34" charset="-122"/>
                <a:cs typeface="Arial" pitchFamily="34" charset="-120"/>
              </a:rPr>
              <a:t>Đồ án Python HK3 — Sàng lọc &amp; dự đoán nguy cơ tiểu đường</a:t>
            </a:r>
            <a:endParaRPr lang="en-US" sz="9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0058400" cy="274320"/>
          </a:xfrm>
          <a:prstGeom prst="rect">
            <a:avLst/>
          </a:prstGeom>
          <a:noFill/>
          <a:ln/>
        </p:spPr>
        <p:txBody>
          <a:bodyPr wrap="square" rtlCol="0" anchor="t"/>
          <a:lstStyle/>
          <a:p>
            <a:pPr marL="0" indent="0">
              <a:buNone/>
            </a:pPr>
            <a:r>
              <a:rPr lang="en-US" sz="1200" b="1" kern="0" spc="200" dirty="0">
                <a:solidFill>
                  <a:srgbClr val="0F5C57"/>
                </a:solidFill>
                <a:latin typeface="Arial" pitchFamily="34" charset="0"/>
                <a:ea typeface="Arial" pitchFamily="34" charset="-122"/>
                <a:cs typeface="Arial" pitchFamily="34" charset="-120"/>
              </a:rPr>
              <a:t>GIẢI PHÁP KỸ THUẬT</a:t>
            </a:r>
            <a:endParaRPr lang="en-US" sz="1200" dirty="0"/>
          </a:p>
        </p:txBody>
      </p:sp>
      <p:sp>
        <p:nvSpPr>
          <p:cNvPr id="3" name="Text 1"/>
          <p:cNvSpPr txBox="1"/>
          <p:nvPr/>
        </p:nvSpPr>
        <p:spPr>
          <a:xfrm>
            <a:off x="457200" y="566928"/>
            <a:ext cx="11247120" cy="640080"/>
          </a:xfrm>
          <a:prstGeom prst="rect">
            <a:avLst/>
          </a:prstGeom>
          <a:noFill/>
          <a:ln/>
        </p:spPr>
        <p:txBody>
          <a:bodyPr wrap="square" rtlCol="0" anchor="t"/>
          <a:lstStyle/>
          <a:p>
            <a:pPr marL="0" indent="0">
              <a:buNone/>
            </a:pPr>
            <a:r>
              <a:rPr lang="en-US" sz="2800" b="1" dirty="0">
                <a:solidFill>
                  <a:srgbClr val="1A1F36"/>
                </a:solidFill>
                <a:latin typeface="Century Schoolbook" pitchFamily="34" charset="0"/>
                <a:ea typeface="Century Schoolbook" pitchFamily="34" charset="-122"/>
                <a:cs typeface="Century Schoolbook" pitchFamily="34" charset="-120"/>
              </a:rPr>
              <a:t>Kiến trúc hệ thống 3 tầng</a:t>
            </a:r>
            <a:endParaRPr lang="en-US" sz="2800" dirty="0"/>
          </a:p>
        </p:txBody>
      </p:sp>
      <p:sp>
        <p:nvSpPr>
          <p:cNvPr id="4" name="Shape 2"/>
          <p:cNvSpPr/>
          <p:nvPr/>
        </p:nvSpPr>
        <p:spPr>
          <a:xfrm>
            <a:off x="457200" y="1691640"/>
            <a:ext cx="3429000" cy="2103120"/>
          </a:xfrm>
          <a:prstGeom prst="roundRect">
            <a:avLst>
              <a:gd name="adj" fmla="val 3913"/>
            </a:avLst>
          </a:prstGeom>
          <a:solidFill>
            <a:srgbClr val="EAF3F1"/>
          </a:solidFill>
          <a:ln/>
          <a:effectLst>
            <a:outerShdw blurRad="63500" dist="25400" dir="5400000" algn="bl" rotWithShape="0">
              <a:srgbClr val="8FB3AC">
                <a:alpha val="30000"/>
              </a:srgbClr>
            </a:outerShdw>
          </a:effectLst>
        </p:spPr>
      </p:sp>
      <p:sp>
        <p:nvSpPr>
          <p:cNvPr id="5" name="Shape 3"/>
          <p:cNvSpPr/>
          <p:nvPr/>
        </p:nvSpPr>
        <p:spPr>
          <a:xfrm>
            <a:off x="713232" y="1920240"/>
            <a:ext cx="420624" cy="420624"/>
          </a:xfrm>
          <a:prstGeom prst="ellipse">
            <a:avLst/>
          </a:prstGeom>
          <a:solidFill>
            <a:srgbClr val="0F5C57"/>
          </a:solidFill>
          <a:ln/>
        </p:spPr>
      </p:sp>
      <p:sp>
        <p:nvSpPr>
          <p:cNvPr id="6" name="Text 4"/>
          <p:cNvSpPr txBox="1"/>
          <p:nvPr/>
        </p:nvSpPr>
        <p:spPr>
          <a:xfrm>
            <a:off x="713232" y="192024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280160" y="1938528"/>
            <a:ext cx="2423160" cy="384048"/>
          </a:xfrm>
          <a:prstGeom prst="rect">
            <a:avLst/>
          </a:prstGeom>
          <a:noFill/>
          <a:ln/>
        </p:spPr>
        <p:txBody>
          <a:bodyPr wrap="square" rtlCol="0" anchor="ctr"/>
          <a:lstStyle/>
          <a:p>
            <a:pPr marL="0" indent="0">
              <a:buNone/>
            </a:pPr>
            <a:r>
              <a:rPr lang="en-US" sz="1350" b="1" kern="0" spc="100" dirty="0">
                <a:solidFill>
                  <a:srgbClr val="0F5C57"/>
                </a:solidFill>
                <a:latin typeface="Arial" pitchFamily="34" charset="0"/>
                <a:ea typeface="Arial" pitchFamily="34" charset="-122"/>
                <a:cs typeface="Arial" pitchFamily="34" charset="-120"/>
              </a:rPr>
              <a:t>GIAO DIỆN</a:t>
            </a:r>
            <a:endParaRPr lang="en-US" sz="1350" dirty="0"/>
          </a:p>
        </p:txBody>
      </p:sp>
      <p:sp>
        <p:nvSpPr>
          <p:cNvPr id="8" name="Text 6"/>
          <p:cNvSpPr txBox="1"/>
          <p:nvPr/>
        </p:nvSpPr>
        <p:spPr>
          <a:xfrm>
            <a:off x="731520" y="2560320"/>
            <a:ext cx="2926080" cy="1005840"/>
          </a:xfrm>
          <a:prstGeom prst="rect">
            <a:avLst/>
          </a:prstGeom>
          <a:noFill/>
          <a:ln/>
        </p:spPr>
        <p:txBody>
          <a:bodyPr wrap="square" rtlCol="0" anchor="t"/>
          <a:lstStyle/>
          <a:p>
            <a:pPr marL="0" indent="0">
              <a:lnSpc>
                <a:spcPct val="135000"/>
              </a:lnSpc>
              <a:buNone/>
            </a:pPr>
            <a:r>
              <a:rPr lang="en-US" sz="1150" dirty="0">
                <a:solidFill>
                  <a:srgbClr val="1A1F36"/>
                </a:solidFill>
                <a:latin typeface="Arial" pitchFamily="34" charset="0"/>
                <a:ea typeface="Arial" pitchFamily="34" charset="-122"/>
                <a:cs typeface="Arial" pitchFamily="34" charset="-120"/>
              </a:rPr>
              <a:t>Tkinter · 6 tab chức năng</a:t>
            </a:r>
            <a:endParaRPr lang="en-US" sz="1150" dirty="0"/>
          </a:p>
          <a:p>
            <a:pPr marL="0" indent="0">
              <a:lnSpc>
                <a:spcPct val="135000"/>
              </a:lnSpc>
              <a:buNone/>
            </a:pPr>
            <a:r>
              <a:rPr lang="en-US" sz="1150" dirty="0">
                <a:solidFill>
                  <a:srgbClr val="1A1F36"/>
                </a:solidFill>
                <a:latin typeface="Arial" pitchFamily="34" charset="0"/>
                <a:ea typeface="Arial" pitchFamily="34" charset="-122"/>
                <a:cs typeface="Arial" pitchFamily="34" charset="-120"/>
              </a:rPr>
              <a:t>app.py điều hướng &amp; làm mới dữ liệu</a:t>
            </a:r>
            <a:endParaRPr lang="en-US" sz="1150" dirty="0"/>
          </a:p>
        </p:txBody>
      </p:sp>
      <p:sp>
        <p:nvSpPr>
          <p:cNvPr id="9" name="Text 7"/>
          <p:cNvSpPr txBox="1"/>
          <p:nvPr/>
        </p:nvSpPr>
        <p:spPr>
          <a:xfrm>
            <a:off x="3913632" y="2514600"/>
            <a:ext cx="329184" cy="457200"/>
          </a:xfrm>
          <a:prstGeom prst="rect">
            <a:avLst/>
          </a:prstGeom>
          <a:noFill/>
          <a:ln/>
        </p:spPr>
        <p:txBody>
          <a:bodyPr wrap="square" rtlCol="0" anchor="ctr"/>
          <a:lstStyle/>
          <a:p>
            <a:pPr marL="0" indent="0" algn="ctr">
              <a:buNone/>
            </a:pPr>
            <a:r>
              <a:rPr lang="en-US" sz="2200" b="1" dirty="0">
                <a:solidFill>
                  <a:srgbClr val="6B7280"/>
                </a:solidFill>
                <a:latin typeface="Arial" pitchFamily="34" charset="0"/>
                <a:ea typeface="Arial" pitchFamily="34" charset="-122"/>
                <a:cs typeface="Arial" pitchFamily="34" charset="-120"/>
              </a:rPr>
              <a:t>→</a:t>
            </a:r>
            <a:endParaRPr lang="en-US" sz="2200" dirty="0"/>
          </a:p>
        </p:txBody>
      </p:sp>
      <p:sp>
        <p:nvSpPr>
          <p:cNvPr id="10" name="Shape 8"/>
          <p:cNvSpPr/>
          <p:nvPr/>
        </p:nvSpPr>
        <p:spPr>
          <a:xfrm>
            <a:off x="4270248" y="1691640"/>
            <a:ext cx="3429000" cy="2103120"/>
          </a:xfrm>
          <a:prstGeom prst="roundRect">
            <a:avLst>
              <a:gd name="adj" fmla="val 3913"/>
            </a:avLst>
          </a:prstGeom>
          <a:solidFill>
            <a:srgbClr val="EAF3F1"/>
          </a:solidFill>
          <a:ln/>
          <a:effectLst>
            <a:outerShdw blurRad="63500" dist="25400" dir="5400000" algn="bl" rotWithShape="0">
              <a:srgbClr val="8FB3AC">
                <a:alpha val="30000"/>
              </a:srgbClr>
            </a:outerShdw>
          </a:effectLst>
        </p:spPr>
      </p:sp>
      <p:sp>
        <p:nvSpPr>
          <p:cNvPr id="11" name="Shape 9"/>
          <p:cNvSpPr/>
          <p:nvPr/>
        </p:nvSpPr>
        <p:spPr>
          <a:xfrm>
            <a:off x="4526280" y="1920240"/>
            <a:ext cx="420624" cy="420624"/>
          </a:xfrm>
          <a:prstGeom prst="ellipse">
            <a:avLst/>
          </a:prstGeom>
          <a:solidFill>
            <a:srgbClr val="1C7293"/>
          </a:solidFill>
          <a:ln/>
        </p:spPr>
      </p:sp>
      <p:sp>
        <p:nvSpPr>
          <p:cNvPr id="12" name="Text 10"/>
          <p:cNvSpPr txBox="1"/>
          <p:nvPr/>
        </p:nvSpPr>
        <p:spPr>
          <a:xfrm>
            <a:off x="4526280" y="192024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1"/>
          <p:cNvSpPr txBox="1"/>
          <p:nvPr/>
        </p:nvSpPr>
        <p:spPr>
          <a:xfrm>
            <a:off x="5093208" y="1938528"/>
            <a:ext cx="2423160" cy="384048"/>
          </a:xfrm>
          <a:prstGeom prst="rect">
            <a:avLst/>
          </a:prstGeom>
          <a:noFill/>
          <a:ln/>
        </p:spPr>
        <p:txBody>
          <a:bodyPr wrap="square" rtlCol="0" anchor="ctr"/>
          <a:lstStyle/>
          <a:p>
            <a:pPr marL="0" indent="0">
              <a:buNone/>
            </a:pPr>
            <a:r>
              <a:rPr lang="en-US" sz="1350" b="1" kern="0" spc="100" dirty="0">
                <a:solidFill>
                  <a:srgbClr val="1C7293"/>
                </a:solidFill>
                <a:latin typeface="Arial" pitchFamily="34" charset="0"/>
                <a:ea typeface="Arial" pitchFamily="34" charset="-122"/>
                <a:cs typeface="Arial" pitchFamily="34" charset="-120"/>
              </a:rPr>
              <a:t>TẦNG XỬ LÝ</a:t>
            </a:r>
            <a:endParaRPr lang="en-US" sz="1350" dirty="0"/>
          </a:p>
        </p:txBody>
      </p:sp>
      <p:sp>
        <p:nvSpPr>
          <p:cNvPr id="14" name="Text 12"/>
          <p:cNvSpPr txBox="1"/>
          <p:nvPr/>
        </p:nvSpPr>
        <p:spPr>
          <a:xfrm>
            <a:off x="4544568" y="2560320"/>
            <a:ext cx="2926080" cy="1005840"/>
          </a:xfrm>
          <a:prstGeom prst="rect">
            <a:avLst/>
          </a:prstGeom>
          <a:noFill/>
          <a:ln/>
        </p:spPr>
        <p:txBody>
          <a:bodyPr wrap="square" rtlCol="0" anchor="t"/>
          <a:lstStyle/>
          <a:p>
            <a:pPr marL="0" indent="0">
              <a:lnSpc>
                <a:spcPct val="135000"/>
              </a:lnSpc>
              <a:buNone/>
            </a:pPr>
            <a:r>
              <a:rPr lang="en-US" sz="1150" dirty="0">
                <a:solidFill>
                  <a:srgbClr val="1A1F36"/>
                </a:solidFill>
                <a:latin typeface="Arial" pitchFamily="34" charset="0"/>
                <a:ea typeface="Arial" pitchFamily="34" charset="-122"/>
                <a:cs typeface="Arial" pitchFamily="34" charset="-120"/>
              </a:rPr>
              <a:t>config.py · database/queries.py</a:t>
            </a:r>
            <a:endParaRPr lang="en-US" sz="1150" dirty="0"/>
          </a:p>
          <a:p>
            <a:pPr marL="0" indent="0">
              <a:lnSpc>
                <a:spcPct val="135000"/>
              </a:lnSpc>
              <a:buNone/>
            </a:pPr>
            <a:r>
              <a:rPr lang="en-US" sz="1150" dirty="0">
                <a:solidFill>
                  <a:srgbClr val="1A1F36"/>
                </a:solidFill>
                <a:latin typeface="Arial" pitchFamily="34" charset="0"/>
                <a:ea typeface="Arial" pitchFamily="34" charset="-122"/>
                <a:cs typeface="Arial" pitchFamily="34" charset="-120"/>
              </a:rPr>
              <a:t>ml/predict.py — cầu nối GUI, dữ liệu, model</a:t>
            </a:r>
            <a:endParaRPr lang="en-US" sz="1150" dirty="0"/>
          </a:p>
        </p:txBody>
      </p:sp>
      <p:sp>
        <p:nvSpPr>
          <p:cNvPr id="15" name="Text 13"/>
          <p:cNvSpPr txBox="1"/>
          <p:nvPr/>
        </p:nvSpPr>
        <p:spPr>
          <a:xfrm>
            <a:off x="7726680" y="2514600"/>
            <a:ext cx="329184" cy="457200"/>
          </a:xfrm>
          <a:prstGeom prst="rect">
            <a:avLst/>
          </a:prstGeom>
          <a:noFill/>
          <a:ln/>
        </p:spPr>
        <p:txBody>
          <a:bodyPr wrap="square" rtlCol="0" anchor="ctr"/>
          <a:lstStyle/>
          <a:p>
            <a:pPr marL="0" indent="0" algn="ctr">
              <a:buNone/>
            </a:pPr>
            <a:r>
              <a:rPr lang="en-US" sz="2200" b="1" dirty="0">
                <a:solidFill>
                  <a:srgbClr val="6B7280"/>
                </a:solidFill>
                <a:latin typeface="Arial" pitchFamily="34" charset="0"/>
                <a:ea typeface="Arial" pitchFamily="34" charset="-122"/>
                <a:cs typeface="Arial" pitchFamily="34" charset="-120"/>
              </a:rPr>
              <a:t>→</a:t>
            </a:r>
            <a:endParaRPr lang="en-US" sz="2200" dirty="0"/>
          </a:p>
        </p:txBody>
      </p:sp>
      <p:sp>
        <p:nvSpPr>
          <p:cNvPr id="16" name="Shape 14"/>
          <p:cNvSpPr/>
          <p:nvPr/>
        </p:nvSpPr>
        <p:spPr>
          <a:xfrm>
            <a:off x="8083296" y="1691640"/>
            <a:ext cx="3429000" cy="2103120"/>
          </a:xfrm>
          <a:prstGeom prst="roundRect">
            <a:avLst>
              <a:gd name="adj" fmla="val 3913"/>
            </a:avLst>
          </a:prstGeom>
          <a:solidFill>
            <a:srgbClr val="EAF3F1"/>
          </a:solidFill>
          <a:ln/>
          <a:effectLst>
            <a:outerShdw blurRad="63500" dist="25400" dir="5400000" algn="bl" rotWithShape="0">
              <a:srgbClr val="8FB3AC">
                <a:alpha val="30000"/>
              </a:srgbClr>
            </a:outerShdw>
          </a:effectLst>
        </p:spPr>
      </p:sp>
      <p:sp>
        <p:nvSpPr>
          <p:cNvPr id="17" name="Shape 15"/>
          <p:cNvSpPr/>
          <p:nvPr/>
        </p:nvSpPr>
        <p:spPr>
          <a:xfrm>
            <a:off x="8339328" y="1920240"/>
            <a:ext cx="420624" cy="420624"/>
          </a:xfrm>
          <a:prstGeom prst="ellipse">
            <a:avLst/>
          </a:prstGeom>
          <a:solidFill>
            <a:srgbClr val="FF8A3D"/>
          </a:solidFill>
          <a:ln/>
        </p:spPr>
      </p:sp>
      <p:sp>
        <p:nvSpPr>
          <p:cNvPr id="18" name="Text 16"/>
          <p:cNvSpPr txBox="1"/>
          <p:nvPr/>
        </p:nvSpPr>
        <p:spPr>
          <a:xfrm>
            <a:off x="8339328" y="192024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9" name="Text 17"/>
          <p:cNvSpPr txBox="1"/>
          <p:nvPr/>
        </p:nvSpPr>
        <p:spPr>
          <a:xfrm>
            <a:off x="8906256" y="1938528"/>
            <a:ext cx="2423160" cy="384048"/>
          </a:xfrm>
          <a:prstGeom prst="rect">
            <a:avLst/>
          </a:prstGeom>
          <a:noFill/>
          <a:ln/>
        </p:spPr>
        <p:txBody>
          <a:bodyPr wrap="square" rtlCol="0" anchor="ctr"/>
          <a:lstStyle/>
          <a:p>
            <a:pPr marL="0" indent="0">
              <a:buNone/>
            </a:pPr>
            <a:r>
              <a:rPr lang="en-US" sz="1350" b="1" kern="0" spc="100" dirty="0">
                <a:solidFill>
                  <a:srgbClr val="FF8A3D"/>
                </a:solidFill>
                <a:latin typeface="Arial" pitchFamily="34" charset="0"/>
                <a:ea typeface="Arial" pitchFamily="34" charset="-122"/>
                <a:cs typeface="Arial" pitchFamily="34" charset="-120"/>
              </a:rPr>
              <a:t>DỮ LIỆU &amp; MODEL</a:t>
            </a:r>
            <a:endParaRPr lang="en-US" sz="1350" dirty="0"/>
          </a:p>
        </p:txBody>
      </p:sp>
      <p:sp>
        <p:nvSpPr>
          <p:cNvPr id="20" name="Text 18"/>
          <p:cNvSpPr txBox="1"/>
          <p:nvPr/>
        </p:nvSpPr>
        <p:spPr>
          <a:xfrm>
            <a:off x="8357616" y="2560320"/>
            <a:ext cx="2926080" cy="1005840"/>
          </a:xfrm>
          <a:prstGeom prst="rect">
            <a:avLst/>
          </a:prstGeom>
          <a:noFill/>
          <a:ln/>
        </p:spPr>
        <p:txBody>
          <a:bodyPr wrap="square" rtlCol="0" anchor="t"/>
          <a:lstStyle/>
          <a:p>
            <a:pPr marL="0" indent="0">
              <a:lnSpc>
                <a:spcPct val="135000"/>
              </a:lnSpc>
              <a:buNone/>
            </a:pPr>
            <a:r>
              <a:rPr lang="en-US" sz="1150" dirty="0">
                <a:solidFill>
                  <a:srgbClr val="1A1F36"/>
                </a:solidFill>
                <a:latin typeface="Arial" pitchFamily="34" charset="0"/>
                <a:ea typeface="Arial" pitchFamily="34" charset="-122"/>
                <a:cs typeface="Arial" pitchFamily="34" charset="-120"/>
              </a:rPr>
              <a:t>SQLite: data/diabetes.db (6 bảng)</a:t>
            </a:r>
            <a:endParaRPr lang="en-US" sz="1150" dirty="0"/>
          </a:p>
          <a:p>
            <a:pPr marL="0" indent="0">
              <a:lnSpc>
                <a:spcPct val="135000"/>
              </a:lnSpc>
              <a:buNone/>
            </a:pPr>
            <a:r>
              <a:rPr lang="en-US" sz="1150" dirty="0">
                <a:solidFill>
                  <a:srgbClr val="1A1F36"/>
                </a:solidFill>
                <a:latin typeface="Arial" pitchFamily="34" charset="0"/>
                <a:ea typeface="Arial" pitchFamily="34" charset="-122"/>
                <a:cs typeface="Arial" pitchFamily="34" charset="-120"/>
              </a:rPr>
              <a:t>Pipeline .joblib: symptom_model · clinical_model</a:t>
            </a:r>
            <a:endParaRPr lang="en-US" sz="1150" dirty="0"/>
          </a:p>
        </p:txBody>
      </p:sp>
      <p:sp>
        <p:nvSpPr>
          <p:cNvPr id="21" name="Text 19"/>
          <p:cNvSpPr txBox="1"/>
          <p:nvPr/>
        </p:nvSpPr>
        <p:spPr>
          <a:xfrm>
            <a:off x="457200" y="4160520"/>
            <a:ext cx="5486400" cy="320040"/>
          </a:xfrm>
          <a:prstGeom prst="rect">
            <a:avLst/>
          </a:prstGeom>
          <a:noFill/>
          <a:ln/>
        </p:spPr>
        <p:txBody>
          <a:bodyPr wrap="square" rtlCol="0" anchor="ctr"/>
          <a:lstStyle/>
          <a:p>
            <a:pPr marL="0" indent="0">
              <a:buNone/>
            </a:pPr>
            <a:r>
              <a:rPr lang="en-US" sz="1300" b="1" kern="0" spc="200" dirty="0">
                <a:solidFill>
                  <a:srgbClr val="0F5C57"/>
                </a:solidFill>
                <a:latin typeface="Arial" pitchFamily="34" charset="0"/>
                <a:ea typeface="Arial" pitchFamily="34" charset="-122"/>
                <a:cs typeface="Arial" pitchFamily="34" charset="-120"/>
              </a:rPr>
              <a:t>CÔNG NGHỆ SỬ DỤNG</a:t>
            </a:r>
            <a:endParaRPr lang="en-US" sz="1300" dirty="0"/>
          </a:p>
        </p:txBody>
      </p:sp>
      <p:sp>
        <p:nvSpPr>
          <p:cNvPr id="22" name="Shape 20"/>
          <p:cNvSpPr/>
          <p:nvPr/>
        </p:nvSpPr>
        <p:spPr>
          <a:xfrm>
            <a:off x="457200" y="4572000"/>
            <a:ext cx="1792224" cy="1417320"/>
          </a:xfrm>
          <a:prstGeom prst="roundRect">
            <a:avLst>
              <a:gd name="adj" fmla="val 5806"/>
            </a:avLst>
          </a:prstGeom>
          <a:solidFill>
            <a:srgbClr val="DCEEEA"/>
          </a:solidFill>
          <a:ln/>
          <a:effectLst>
            <a:outerShdw blurRad="63500" dist="25400" dir="5400000" algn="bl" rotWithShape="0">
              <a:srgbClr val="8FB3AC">
                <a:alpha val="30000"/>
              </a:srgbClr>
            </a:outerShdw>
          </a:effectLst>
        </p:spPr>
      </p:sp>
      <p:sp>
        <p:nvSpPr>
          <p:cNvPr id="23" name="Text 21"/>
          <p:cNvSpPr txBox="1"/>
          <p:nvPr/>
        </p:nvSpPr>
        <p:spPr>
          <a:xfrm>
            <a:off x="566928" y="4736592"/>
            <a:ext cx="1572768" cy="502920"/>
          </a:xfrm>
          <a:prstGeom prst="rect">
            <a:avLst/>
          </a:prstGeom>
          <a:noFill/>
          <a:ln/>
        </p:spPr>
        <p:txBody>
          <a:bodyPr wrap="square" rtlCol="0" anchor="t"/>
          <a:lstStyle/>
          <a:p>
            <a:pPr marL="0" indent="0">
              <a:lnSpc>
                <a:spcPct val="105000"/>
              </a:lnSpc>
              <a:buNone/>
            </a:pPr>
            <a:r>
              <a:rPr lang="en-US" sz="1200" b="1" dirty="0">
                <a:solidFill>
                  <a:srgbClr val="0F5C57"/>
                </a:solidFill>
                <a:latin typeface="Arial" pitchFamily="34" charset="0"/>
                <a:ea typeface="Arial" pitchFamily="34" charset="-122"/>
                <a:cs typeface="Arial" pitchFamily="34" charset="-120"/>
              </a:rPr>
              <a:t>Python 3.14</a:t>
            </a:r>
            <a:endParaRPr lang="en-US" sz="1200" dirty="0"/>
          </a:p>
        </p:txBody>
      </p:sp>
      <p:sp>
        <p:nvSpPr>
          <p:cNvPr id="24" name="Text 22"/>
          <p:cNvSpPr txBox="1"/>
          <p:nvPr/>
        </p:nvSpPr>
        <p:spPr>
          <a:xfrm>
            <a:off x="566928" y="5285232"/>
            <a:ext cx="1572768" cy="594360"/>
          </a:xfrm>
          <a:prstGeom prst="rect">
            <a:avLst/>
          </a:prstGeom>
          <a:noFill/>
          <a:ln/>
        </p:spPr>
        <p:txBody>
          <a:bodyPr wrap="square" rtlCol="0" anchor="t"/>
          <a:lstStyle/>
          <a:p>
            <a:pPr marL="0" indent="0">
              <a:lnSpc>
                <a:spcPct val="120000"/>
              </a:lnSpc>
              <a:buNone/>
            </a:pPr>
            <a:r>
              <a:rPr lang="en-US" sz="950" dirty="0">
                <a:solidFill>
                  <a:srgbClr val="6B7280"/>
                </a:solidFill>
                <a:latin typeface="Arial" pitchFamily="34" charset="0"/>
                <a:ea typeface="Arial" pitchFamily="34" charset="-122"/>
                <a:cs typeface="Arial" pitchFamily="34" charset="-120"/>
              </a:rPr>
              <a:t>Ngôn ngữ nền tảng</a:t>
            </a:r>
            <a:endParaRPr lang="en-US" sz="950" dirty="0"/>
          </a:p>
        </p:txBody>
      </p:sp>
      <p:sp>
        <p:nvSpPr>
          <p:cNvPr id="25" name="Shape 23"/>
          <p:cNvSpPr/>
          <p:nvPr/>
        </p:nvSpPr>
        <p:spPr>
          <a:xfrm>
            <a:off x="2372868" y="4572000"/>
            <a:ext cx="1792224" cy="1417320"/>
          </a:xfrm>
          <a:prstGeom prst="roundRect">
            <a:avLst>
              <a:gd name="adj" fmla="val 5806"/>
            </a:avLst>
          </a:prstGeom>
          <a:solidFill>
            <a:srgbClr val="DCEEEA"/>
          </a:solidFill>
          <a:ln/>
          <a:effectLst>
            <a:outerShdw blurRad="63500" dist="25400" dir="5400000" algn="bl" rotWithShape="0">
              <a:srgbClr val="8FB3AC">
                <a:alpha val="30000"/>
              </a:srgbClr>
            </a:outerShdw>
          </a:effectLst>
        </p:spPr>
      </p:sp>
      <p:sp>
        <p:nvSpPr>
          <p:cNvPr id="26" name="Text 24"/>
          <p:cNvSpPr txBox="1"/>
          <p:nvPr/>
        </p:nvSpPr>
        <p:spPr>
          <a:xfrm>
            <a:off x="2482596" y="4736592"/>
            <a:ext cx="1572768" cy="502920"/>
          </a:xfrm>
          <a:prstGeom prst="rect">
            <a:avLst/>
          </a:prstGeom>
          <a:noFill/>
          <a:ln/>
        </p:spPr>
        <p:txBody>
          <a:bodyPr wrap="square" rtlCol="0" anchor="t"/>
          <a:lstStyle/>
          <a:p>
            <a:pPr marL="0" indent="0">
              <a:lnSpc>
                <a:spcPct val="105000"/>
              </a:lnSpc>
              <a:buNone/>
            </a:pPr>
            <a:r>
              <a:rPr lang="en-US" sz="1200" b="1" dirty="0">
                <a:solidFill>
                  <a:srgbClr val="0F5C57"/>
                </a:solidFill>
                <a:latin typeface="Arial" pitchFamily="34" charset="0"/>
                <a:ea typeface="Arial" pitchFamily="34" charset="-122"/>
                <a:cs typeface="Arial" pitchFamily="34" charset="-120"/>
              </a:rPr>
              <a:t>Tkinter</a:t>
            </a:r>
            <a:endParaRPr lang="en-US" sz="1200" dirty="0"/>
          </a:p>
        </p:txBody>
      </p:sp>
      <p:sp>
        <p:nvSpPr>
          <p:cNvPr id="27" name="Text 25"/>
          <p:cNvSpPr txBox="1"/>
          <p:nvPr/>
        </p:nvSpPr>
        <p:spPr>
          <a:xfrm>
            <a:off x="2482596" y="5285232"/>
            <a:ext cx="1572768" cy="594360"/>
          </a:xfrm>
          <a:prstGeom prst="rect">
            <a:avLst/>
          </a:prstGeom>
          <a:noFill/>
          <a:ln/>
        </p:spPr>
        <p:txBody>
          <a:bodyPr wrap="square" rtlCol="0" anchor="t"/>
          <a:lstStyle/>
          <a:p>
            <a:pPr marL="0" indent="0">
              <a:lnSpc>
                <a:spcPct val="120000"/>
              </a:lnSpc>
              <a:buNone/>
            </a:pPr>
            <a:r>
              <a:rPr lang="en-US" sz="950" dirty="0">
                <a:solidFill>
                  <a:srgbClr val="6B7280"/>
                </a:solidFill>
                <a:latin typeface="Arial" pitchFamily="34" charset="0"/>
                <a:ea typeface="Arial" pitchFamily="34" charset="-122"/>
                <a:cs typeface="Arial" pitchFamily="34" charset="-120"/>
              </a:rPr>
              <a:t>Giao diện desktop</a:t>
            </a:r>
            <a:endParaRPr lang="en-US" sz="950" dirty="0"/>
          </a:p>
        </p:txBody>
      </p:sp>
      <p:sp>
        <p:nvSpPr>
          <p:cNvPr id="28" name="Shape 26"/>
          <p:cNvSpPr/>
          <p:nvPr/>
        </p:nvSpPr>
        <p:spPr>
          <a:xfrm>
            <a:off x="4288536" y="4572000"/>
            <a:ext cx="1792224" cy="1417320"/>
          </a:xfrm>
          <a:prstGeom prst="roundRect">
            <a:avLst>
              <a:gd name="adj" fmla="val 5806"/>
            </a:avLst>
          </a:prstGeom>
          <a:solidFill>
            <a:srgbClr val="DCEEEA"/>
          </a:solidFill>
          <a:ln/>
          <a:effectLst>
            <a:outerShdw blurRad="63500" dist="25400" dir="5400000" algn="bl" rotWithShape="0">
              <a:srgbClr val="8FB3AC">
                <a:alpha val="30000"/>
              </a:srgbClr>
            </a:outerShdw>
          </a:effectLst>
        </p:spPr>
      </p:sp>
      <p:sp>
        <p:nvSpPr>
          <p:cNvPr id="29" name="Text 27"/>
          <p:cNvSpPr txBox="1"/>
          <p:nvPr/>
        </p:nvSpPr>
        <p:spPr>
          <a:xfrm>
            <a:off x="4398264" y="4736592"/>
            <a:ext cx="1572768" cy="502920"/>
          </a:xfrm>
          <a:prstGeom prst="rect">
            <a:avLst/>
          </a:prstGeom>
          <a:noFill/>
          <a:ln/>
        </p:spPr>
        <p:txBody>
          <a:bodyPr wrap="square" rtlCol="0" anchor="t"/>
          <a:lstStyle/>
          <a:p>
            <a:pPr marL="0" indent="0">
              <a:lnSpc>
                <a:spcPct val="105000"/>
              </a:lnSpc>
              <a:buNone/>
            </a:pPr>
            <a:r>
              <a:rPr lang="en-US" sz="1200" b="1" dirty="0">
                <a:solidFill>
                  <a:srgbClr val="0F5C57"/>
                </a:solidFill>
                <a:latin typeface="Arial" pitchFamily="34" charset="0"/>
                <a:ea typeface="Arial" pitchFamily="34" charset="-122"/>
                <a:cs typeface="Arial" pitchFamily="34" charset="-120"/>
              </a:rPr>
              <a:t>scikit-learn</a:t>
            </a:r>
            <a:endParaRPr lang="en-US" sz="1200" dirty="0"/>
          </a:p>
        </p:txBody>
      </p:sp>
      <p:sp>
        <p:nvSpPr>
          <p:cNvPr id="30" name="Text 28"/>
          <p:cNvSpPr txBox="1"/>
          <p:nvPr/>
        </p:nvSpPr>
        <p:spPr>
          <a:xfrm>
            <a:off x="4398264" y="5285232"/>
            <a:ext cx="1572768" cy="594360"/>
          </a:xfrm>
          <a:prstGeom prst="rect">
            <a:avLst/>
          </a:prstGeom>
          <a:noFill/>
          <a:ln/>
        </p:spPr>
        <p:txBody>
          <a:bodyPr wrap="square" rtlCol="0" anchor="t"/>
          <a:lstStyle/>
          <a:p>
            <a:pPr marL="0" indent="0">
              <a:lnSpc>
                <a:spcPct val="120000"/>
              </a:lnSpc>
              <a:buNone/>
            </a:pPr>
            <a:r>
              <a:rPr lang="en-US" sz="950" dirty="0">
                <a:solidFill>
                  <a:srgbClr val="6B7280"/>
                </a:solidFill>
                <a:latin typeface="Arial" pitchFamily="34" charset="0"/>
                <a:ea typeface="Arial" pitchFamily="34" charset="-122"/>
                <a:cs typeface="Arial" pitchFamily="34" charset="-120"/>
              </a:rPr>
              <a:t>Huấn luyện mô hình ML</a:t>
            </a:r>
            <a:endParaRPr lang="en-US" sz="950" dirty="0"/>
          </a:p>
        </p:txBody>
      </p:sp>
      <p:sp>
        <p:nvSpPr>
          <p:cNvPr id="31" name="Shape 29"/>
          <p:cNvSpPr/>
          <p:nvPr/>
        </p:nvSpPr>
        <p:spPr>
          <a:xfrm>
            <a:off x="6204204" y="4572000"/>
            <a:ext cx="1792224" cy="1417320"/>
          </a:xfrm>
          <a:prstGeom prst="roundRect">
            <a:avLst>
              <a:gd name="adj" fmla="val 5806"/>
            </a:avLst>
          </a:prstGeom>
          <a:solidFill>
            <a:srgbClr val="DCEEEA"/>
          </a:solidFill>
          <a:ln/>
          <a:effectLst>
            <a:outerShdw blurRad="63500" dist="25400" dir="5400000" algn="bl" rotWithShape="0">
              <a:srgbClr val="8FB3AC">
                <a:alpha val="30000"/>
              </a:srgbClr>
            </a:outerShdw>
          </a:effectLst>
        </p:spPr>
      </p:sp>
      <p:sp>
        <p:nvSpPr>
          <p:cNvPr id="32" name="Text 30"/>
          <p:cNvSpPr txBox="1"/>
          <p:nvPr/>
        </p:nvSpPr>
        <p:spPr>
          <a:xfrm>
            <a:off x="6313932" y="4736592"/>
            <a:ext cx="1572768" cy="502920"/>
          </a:xfrm>
          <a:prstGeom prst="rect">
            <a:avLst/>
          </a:prstGeom>
          <a:noFill/>
          <a:ln/>
        </p:spPr>
        <p:txBody>
          <a:bodyPr wrap="square" rtlCol="0" anchor="t"/>
          <a:lstStyle/>
          <a:p>
            <a:pPr marL="0" indent="0">
              <a:lnSpc>
                <a:spcPct val="105000"/>
              </a:lnSpc>
              <a:buNone/>
            </a:pPr>
            <a:r>
              <a:rPr lang="en-US" sz="1200" b="1" dirty="0">
                <a:solidFill>
                  <a:srgbClr val="0F5C57"/>
                </a:solidFill>
                <a:latin typeface="Arial" pitchFamily="34" charset="0"/>
                <a:ea typeface="Arial" pitchFamily="34" charset="-122"/>
                <a:cs typeface="Arial" pitchFamily="34" charset="-120"/>
              </a:rPr>
              <a:t>pandas / numpy</a:t>
            </a:r>
            <a:endParaRPr lang="en-US" sz="1200" dirty="0"/>
          </a:p>
        </p:txBody>
      </p:sp>
      <p:sp>
        <p:nvSpPr>
          <p:cNvPr id="33" name="Text 31"/>
          <p:cNvSpPr txBox="1"/>
          <p:nvPr/>
        </p:nvSpPr>
        <p:spPr>
          <a:xfrm>
            <a:off x="6313932" y="5285232"/>
            <a:ext cx="1572768" cy="594360"/>
          </a:xfrm>
          <a:prstGeom prst="rect">
            <a:avLst/>
          </a:prstGeom>
          <a:noFill/>
          <a:ln/>
        </p:spPr>
        <p:txBody>
          <a:bodyPr wrap="square" rtlCol="0" anchor="t"/>
          <a:lstStyle/>
          <a:p>
            <a:pPr marL="0" indent="0">
              <a:lnSpc>
                <a:spcPct val="120000"/>
              </a:lnSpc>
              <a:buNone/>
            </a:pPr>
            <a:r>
              <a:rPr lang="en-US" sz="950" dirty="0">
                <a:solidFill>
                  <a:srgbClr val="6B7280"/>
                </a:solidFill>
                <a:latin typeface="Arial" pitchFamily="34" charset="0"/>
                <a:ea typeface="Arial" pitchFamily="34" charset="-122"/>
                <a:cs typeface="Arial" pitchFamily="34" charset="-120"/>
              </a:rPr>
              <a:t>Xử lý &amp; biến đổi dữ liệu</a:t>
            </a:r>
            <a:endParaRPr lang="en-US" sz="950" dirty="0"/>
          </a:p>
        </p:txBody>
      </p:sp>
      <p:sp>
        <p:nvSpPr>
          <p:cNvPr id="34" name="Shape 32"/>
          <p:cNvSpPr/>
          <p:nvPr/>
        </p:nvSpPr>
        <p:spPr>
          <a:xfrm>
            <a:off x="8119872" y="4572000"/>
            <a:ext cx="1792224" cy="1417320"/>
          </a:xfrm>
          <a:prstGeom prst="roundRect">
            <a:avLst>
              <a:gd name="adj" fmla="val 5806"/>
            </a:avLst>
          </a:prstGeom>
          <a:solidFill>
            <a:srgbClr val="DCEEEA"/>
          </a:solidFill>
          <a:ln/>
          <a:effectLst>
            <a:outerShdw blurRad="63500" dist="25400" dir="5400000" algn="bl" rotWithShape="0">
              <a:srgbClr val="8FB3AC">
                <a:alpha val="30000"/>
              </a:srgbClr>
            </a:outerShdw>
          </a:effectLst>
        </p:spPr>
      </p:sp>
      <p:sp>
        <p:nvSpPr>
          <p:cNvPr id="35" name="Text 33"/>
          <p:cNvSpPr txBox="1"/>
          <p:nvPr/>
        </p:nvSpPr>
        <p:spPr>
          <a:xfrm>
            <a:off x="8229600" y="4736592"/>
            <a:ext cx="1572768" cy="502920"/>
          </a:xfrm>
          <a:prstGeom prst="rect">
            <a:avLst/>
          </a:prstGeom>
          <a:noFill/>
          <a:ln/>
        </p:spPr>
        <p:txBody>
          <a:bodyPr wrap="square" rtlCol="0" anchor="t"/>
          <a:lstStyle/>
          <a:p>
            <a:pPr marL="0" indent="0">
              <a:lnSpc>
                <a:spcPct val="105000"/>
              </a:lnSpc>
              <a:buNone/>
            </a:pPr>
            <a:r>
              <a:rPr lang="en-US" sz="1200" b="1" dirty="0">
                <a:solidFill>
                  <a:srgbClr val="0F5C57"/>
                </a:solidFill>
                <a:latin typeface="Arial" pitchFamily="34" charset="0"/>
                <a:ea typeface="Arial" pitchFamily="34" charset="-122"/>
                <a:cs typeface="Arial" pitchFamily="34" charset="-120"/>
              </a:rPr>
              <a:t>SQLite</a:t>
            </a:r>
            <a:endParaRPr lang="en-US" sz="1200" dirty="0"/>
          </a:p>
        </p:txBody>
      </p:sp>
      <p:sp>
        <p:nvSpPr>
          <p:cNvPr id="36" name="Text 34"/>
          <p:cNvSpPr txBox="1"/>
          <p:nvPr/>
        </p:nvSpPr>
        <p:spPr>
          <a:xfrm>
            <a:off x="8229600" y="5285232"/>
            <a:ext cx="1572768" cy="594360"/>
          </a:xfrm>
          <a:prstGeom prst="rect">
            <a:avLst/>
          </a:prstGeom>
          <a:noFill/>
          <a:ln/>
        </p:spPr>
        <p:txBody>
          <a:bodyPr wrap="square" rtlCol="0" anchor="t"/>
          <a:lstStyle/>
          <a:p>
            <a:pPr marL="0" indent="0">
              <a:lnSpc>
                <a:spcPct val="120000"/>
              </a:lnSpc>
              <a:buNone/>
            </a:pPr>
            <a:r>
              <a:rPr lang="en-US" sz="950" dirty="0">
                <a:solidFill>
                  <a:srgbClr val="6B7280"/>
                </a:solidFill>
                <a:latin typeface="Arial" pitchFamily="34" charset="0"/>
                <a:ea typeface="Arial" pitchFamily="34" charset="-122"/>
                <a:cs typeface="Arial" pitchFamily="34" charset="-120"/>
              </a:rPr>
              <a:t>Cơ sở dữ liệu 1 file</a:t>
            </a:r>
            <a:endParaRPr lang="en-US" sz="950" dirty="0"/>
          </a:p>
        </p:txBody>
      </p:sp>
      <p:sp>
        <p:nvSpPr>
          <p:cNvPr id="37" name="Shape 35"/>
          <p:cNvSpPr/>
          <p:nvPr/>
        </p:nvSpPr>
        <p:spPr>
          <a:xfrm>
            <a:off x="10035540" y="4572000"/>
            <a:ext cx="1792224" cy="1417320"/>
          </a:xfrm>
          <a:prstGeom prst="roundRect">
            <a:avLst>
              <a:gd name="adj" fmla="val 5806"/>
            </a:avLst>
          </a:prstGeom>
          <a:solidFill>
            <a:srgbClr val="DCEEEA"/>
          </a:solidFill>
          <a:ln/>
          <a:effectLst>
            <a:outerShdw blurRad="63500" dist="25400" dir="5400000" algn="bl" rotWithShape="0">
              <a:srgbClr val="8FB3AC">
                <a:alpha val="30000"/>
              </a:srgbClr>
            </a:outerShdw>
          </a:effectLst>
        </p:spPr>
      </p:sp>
      <p:sp>
        <p:nvSpPr>
          <p:cNvPr id="38" name="Text 36"/>
          <p:cNvSpPr txBox="1"/>
          <p:nvPr/>
        </p:nvSpPr>
        <p:spPr>
          <a:xfrm>
            <a:off x="10145268" y="4736592"/>
            <a:ext cx="1572768" cy="502920"/>
          </a:xfrm>
          <a:prstGeom prst="rect">
            <a:avLst/>
          </a:prstGeom>
          <a:noFill/>
          <a:ln/>
        </p:spPr>
        <p:txBody>
          <a:bodyPr wrap="square" rtlCol="0" anchor="t"/>
          <a:lstStyle/>
          <a:p>
            <a:pPr marL="0" indent="0">
              <a:lnSpc>
                <a:spcPct val="105000"/>
              </a:lnSpc>
              <a:buNone/>
            </a:pPr>
            <a:r>
              <a:rPr lang="en-US" sz="1200" b="1" dirty="0">
                <a:solidFill>
                  <a:srgbClr val="0F5C57"/>
                </a:solidFill>
                <a:latin typeface="Arial" pitchFamily="34" charset="0"/>
                <a:ea typeface="Arial" pitchFamily="34" charset="-122"/>
                <a:cs typeface="Arial" pitchFamily="34" charset="-120"/>
              </a:rPr>
              <a:t>joblib</a:t>
            </a:r>
            <a:endParaRPr lang="en-US" sz="1200" dirty="0"/>
          </a:p>
        </p:txBody>
      </p:sp>
      <p:sp>
        <p:nvSpPr>
          <p:cNvPr id="39" name="Text 37"/>
          <p:cNvSpPr txBox="1"/>
          <p:nvPr/>
        </p:nvSpPr>
        <p:spPr>
          <a:xfrm>
            <a:off x="10145268" y="5285232"/>
            <a:ext cx="1572768" cy="594360"/>
          </a:xfrm>
          <a:prstGeom prst="rect">
            <a:avLst/>
          </a:prstGeom>
          <a:noFill/>
          <a:ln/>
        </p:spPr>
        <p:txBody>
          <a:bodyPr wrap="square" rtlCol="0" anchor="t"/>
          <a:lstStyle/>
          <a:p>
            <a:pPr marL="0" indent="0">
              <a:lnSpc>
                <a:spcPct val="120000"/>
              </a:lnSpc>
              <a:buNone/>
            </a:pPr>
            <a:r>
              <a:rPr lang="en-US" sz="950" dirty="0">
                <a:solidFill>
                  <a:srgbClr val="6B7280"/>
                </a:solidFill>
                <a:latin typeface="Arial" pitchFamily="34" charset="0"/>
                <a:ea typeface="Arial" pitchFamily="34" charset="-122"/>
                <a:cs typeface="Arial" pitchFamily="34" charset="-120"/>
              </a:rPr>
              <a:t>Lưu / nạp Pipeline model</a:t>
            </a:r>
            <a:endParaRPr lang="en-US" sz="950" dirty="0"/>
          </a:p>
        </p:txBody>
      </p:sp>
      <p:sp>
        <p:nvSpPr>
          <p:cNvPr id="40" name="Text 38"/>
          <p:cNvSpPr txBox="1"/>
          <p:nvPr/>
        </p:nvSpPr>
        <p:spPr>
          <a:xfrm>
            <a:off x="11000232" y="6473952"/>
            <a:ext cx="914400" cy="274320"/>
          </a:xfrm>
          <a:prstGeom prst="rect">
            <a:avLst/>
          </a:prstGeom>
          <a:noFill/>
          <a:ln/>
        </p:spPr>
        <p:txBody>
          <a:bodyPr wrap="square" rtlCol="0" anchor="ctr"/>
          <a:lstStyle/>
          <a:p>
            <a:pPr marL="0" indent="0" algn="r">
              <a:buNone/>
            </a:pPr>
            <a:r>
              <a:rPr lang="en-US" sz="900" dirty="0">
                <a:solidFill>
                  <a:srgbClr val="6B7280"/>
                </a:solidFill>
                <a:latin typeface="Arial" pitchFamily="34" charset="0"/>
                <a:ea typeface="Arial" pitchFamily="34" charset="-122"/>
                <a:cs typeface="Arial" pitchFamily="34" charset="-120"/>
              </a:rPr>
              <a:t>03 / 11</a:t>
            </a:r>
            <a:endParaRPr lang="en-US" sz="900" dirty="0"/>
          </a:p>
        </p:txBody>
      </p:sp>
      <p:sp>
        <p:nvSpPr>
          <p:cNvPr id="41" name="Text 39"/>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Arial" pitchFamily="34" charset="0"/>
                <a:ea typeface="Arial" pitchFamily="34" charset="-122"/>
                <a:cs typeface="Arial" pitchFamily="34" charset="-120"/>
              </a:rPr>
              <a:t>Đồ án Python HK3 — Sàng lọc &amp; dự đoán nguy cơ tiểu đường</a:t>
            </a:r>
            <a:endParaRPr lang="en-US" sz="9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0058400" cy="274320"/>
          </a:xfrm>
          <a:prstGeom prst="rect">
            <a:avLst/>
          </a:prstGeom>
          <a:noFill/>
          <a:ln/>
        </p:spPr>
        <p:txBody>
          <a:bodyPr wrap="square" rtlCol="0" anchor="t"/>
          <a:lstStyle/>
          <a:p>
            <a:pPr marL="0" indent="0">
              <a:buNone/>
            </a:pPr>
            <a:r>
              <a:rPr lang="en-US" sz="1200" b="1" kern="0" spc="200" dirty="0">
                <a:solidFill>
                  <a:srgbClr val="0F5C57"/>
                </a:solidFill>
                <a:latin typeface="Arial" pitchFamily="34" charset="0"/>
                <a:ea typeface="Arial" pitchFamily="34" charset="-122"/>
                <a:cs typeface="Arial" pitchFamily="34" charset="-120"/>
              </a:rPr>
              <a:t>THIẾT KẾ DỮ LIỆU</a:t>
            </a:r>
            <a:endParaRPr lang="en-US" sz="1200" dirty="0"/>
          </a:p>
        </p:txBody>
      </p:sp>
      <p:sp>
        <p:nvSpPr>
          <p:cNvPr id="3" name="Text 1"/>
          <p:cNvSpPr txBox="1"/>
          <p:nvPr/>
        </p:nvSpPr>
        <p:spPr>
          <a:xfrm>
            <a:off x="457200" y="566928"/>
            <a:ext cx="11247120" cy="640080"/>
          </a:xfrm>
          <a:prstGeom prst="rect">
            <a:avLst/>
          </a:prstGeom>
          <a:noFill/>
          <a:ln/>
        </p:spPr>
        <p:txBody>
          <a:bodyPr wrap="square" rtlCol="0" anchor="t"/>
          <a:lstStyle/>
          <a:p>
            <a:pPr marL="0" indent="0">
              <a:buNone/>
            </a:pPr>
            <a:r>
              <a:rPr lang="en-US" sz="2800" b="1" dirty="0">
                <a:solidFill>
                  <a:srgbClr val="1A1F36"/>
                </a:solidFill>
                <a:latin typeface="Century Schoolbook" pitchFamily="34" charset="0"/>
                <a:ea typeface="Century Schoolbook" pitchFamily="34" charset="-122"/>
                <a:cs typeface="Century Schoolbook" pitchFamily="34" charset="-120"/>
              </a:rPr>
              <a:t>Cơ sở dữ liệu SQLite — 6 bảng</a:t>
            </a:r>
            <a:endParaRPr lang="en-US" sz="2800" dirty="0"/>
          </a:p>
        </p:txBody>
      </p:sp>
      <p:sp>
        <p:nvSpPr>
          <p:cNvPr id="4" name="Shape 2"/>
          <p:cNvSpPr/>
          <p:nvPr/>
        </p:nvSpPr>
        <p:spPr>
          <a:xfrm>
            <a:off x="5449824" y="1563624"/>
            <a:ext cx="6336792" cy="4338774"/>
          </a:xfrm>
          <a:prstGeom prst="roundRect">
            <a:avLst>
              <a:gd name="adj" fmla="val 2108"/>
            </a:avLst>
          </a:prstGeom>
          <a:solidFill>
            <a:srgbClr val="FFFFFF"/>
          </a:solidFill>
          <a:ln w="12700">
            <a:solidFill>
              <a:srgbClr val="CDE6DF"/>
            </a:solidFill>
            <a:prstDash val="solid"/>
          </a:ln>
          <a:effectLst>
            <a:outerShdw blurRad="101600" dist="38100" dir="5400000" algn="bl" rotWithShape="0">
              <a:srgbClr val="8FB3AC">
                <a:alpha val="35000"/>
              </a:srgbClr>
            </a:outerShdw>
          </a:effectLst>
        </p:spPr>
      </p:sp>
      <p:pic>
        <p:nvPicPr>
          <p:cNvPr id="5" name="Image 0" descr="/tmp/claude-0/-home-claude/361a06a6-d436-5036-837e-52e1b04c94ff/scratchpad/report/er_diagram.png"/>
          <p:cNvPicPr>
            <a:picLocks noChangeAspect="1"/>
          </p:cNvPicPr>
          <p:nvPr/>
        </p:nvPicPr>
        <p:blipFill>
          <a:blip r:embed="rId3"/>
          <a:srcRect/>
          <a:stretch/>
        </p:blipFill>
        <p:spPr>
          <a:xfrm>
            <a:off x="5486400" y="1600200"/>
            <a:ext cx="6263640" cy="4265622"/>
          </a:xfrm>
          <a:prstGeom prst="rect">
            <a:avLst/>
          </a:prstGeom>
        </p:spPr>
      </p:pic>
      <p:sp>
        <p:nvSpPr>
          <p:cNvPr id="6" name="Shape 3"/>
          <p:cNvSpPr/>
          <p:nvPr/>
        </p:nvSpPr>
        <p:spPr>
          <a:xfrm>
            <a:off x="457200" y="1600200"/>
            <a:ext cx="384048" cy="384048"/>
          </a:xfrm>
          <a:prstGeom prst="ellipse">
            <a:avLst/>
          </a:prstGeom>
          <a:solidFill>
            <a:srgbClr val="0F5C57"/>
          </a:solidFill>
          <a:ln/>
        </p:spPr>
      </p:sp>
      <p:sp>
        <p:nvSpPr>
          <p:cNvPr id="7" name="Text 4"/>
          <p:cNvSpPr txBox="1"/>
          <p:nvPr/>
        </p:nvSpPr>
        <p:spPr>
          <a:xfrm>
            <a:off x="457200" y="1600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5"/>
          <p:cNvSpPr txBox="1"/>
          <p:nvPr/>
        </p:nvSpPr>
        <p:spPr>
          <a:xfrm>
            <a:off x="987552" y="1572768"/>
            <a:ext cx="4224528" cy="310896"/>
          </a:xfrm>
          <a:prstGeom prst="rect">
            <a:avLst/>
          </a:prstGeom>
          <a:noFill/>
          <a:ln/>
        </p:spPr>
        <p:txBody>
          <a:bodyPr wrap="square" rtlCol="0" anchor="t"/>
          <a:lstStyle/>
          <a:p>
            <a:pPr marL="0" indent="0">
              <a:buNone/>
            </a:pPr>
            <a:r>
              <a:rPr lang="en-US" sz="1300" b="1" dirty="0">
                <a:solidFill>
                  <a:srgbClr val="0F5C57"/>
                </a:solidFill>
                <a:latin typeface="Courier New" pitchFamily="34" charset="0"/>
                <a:ea typeface="Courier New" pitchFamily="34" charset="-122"/>
                <a:cs typeface="Courier New" pitchFamily="34" charset="-120"/>
              </a:rPr>
              <a:t>patients</a:t>
            </a:r>
            <a:endParaRPr lang="en-US" sz="1300" dirty="0"/>
          </a:p>
        </p:txBody>
      </p:sp>
      <p:sp>
        <p:nvSpPr>
          <p:cNvPr id="9" name="Text 6"/>
          <p:cNvSpPr txBox="1"/>
          <p:nvPr/>
        </p:nvSpPr>
        <p:spPr>
          <a:xfrm>
            <a:off x="987552" y="1892808"/>
            <a:ext cx="4224528" cy="457200"/>
          </a:xfrm>
          <a:prstGeom prst="rect">
            <a:avLst/>
          </a:prstGeom>
          <a:noFill/>
          <a:ln/>
        </p:spPr>
        <p:txBody>
          <a:bodyPr wrap="square" rtlCol="0" anchor="t"/>
          <a:lstStyle/>
          <a:p>
            <a:pPr marL="0" indent="0">
              <a:lnSpc>
                <a:spcPct val="120000"/>
              </a:lnSpc>
              <a:buNone/>
            </a:pPr>
            <a:r>
              <a:rPr lang="en-US" sz="1030" dirty="0">
                <a:solidFill>
                  <a:srgbClr val="6B7280"/>
                </a:solidFill>
                <a:latin typeface="Arial" pitchFamily="34" charset="0"/>
                <a:ea typeface="Arial" pitchFamily="34" charset="-122"/>
                <a:cs typeface="Arial" pitchFamily="34" charset="-120"/>
              </a:rPr>
              <a:t>Hồ sơ gốc của bệnh nhân: họ tên, ngày sinh, giới tính, số điện thoại.</a:t>
            </a:r>
            <a:endParaRPr lang="en-US" sz="1030" dirty="0"/>
          </a:p>
        </p:txBody>
      </p:sp>
      <p:sp>
        <p:nvSpPr>
          <p:cNvPr id="10" name="Shape 7"/>
          <p:cNvSpPr/>
          <p:nvPr/>
        </p:nvSpPr>
        <p:spPr>
          <a:xfrm>
            <a:off x="457200" y="2377440"/>
            <a:ext cx="384048" cy="384048"/>
          </a:xfrm>
          <a:prstGeom prst="ellipse">
            <a:avLst/>
          </a:prstGeom>
          <a:solidFill>
            <a:srgbClr val="1C7293"/>
          </a:solidFill>
          <a:ln/>
        </p:spPr>
      </p:sp>
      <p:sp>
        <p:nvSpPr>
          <p:cNvPr id="11" name="Text 8"/>
          <p:cNvSpPr txBox="1"/>
          <p:nvPr/>
        </p:nvSpPr>
        <p:spPr>
          <a:xfrm>
            <a:off x="457200" y="237744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9"/>
          <p:cNvSpPr txBox="1"/>
          <p:nvPr/>
        </p:nvSpPr>
        <p:spPr>
          <a:xfrm>
            <a:off x="987552" y="2350008"/>
            <a:ext cx="4224528" cy="310896"/>
          </a:xfrm>
          <a:prstGeom prst="rect">
            <a:avLst/>
          </a:prstGeom>
          <a:noFill/>
          <a:ln/>
        </p:spPr>
        <p:txBody>
          <a:bodyPr wrap="square" rtlCol="0" anchor="t"/>
          <a:lstStyle/>
          <a:p>
            <a:pPr marL="0" indent="0">
              <a:buNone/>
            </a:pPr>
            <a:r>
              <a:rPr lang="en-US" sz="1300" b="1" dirty="0">
                <a:solidFill>
                  <a:srgbClr val="1C7293"/>
                </a:solidFill>
                <a:latin typeface="Courier New" pitchFamily="34" charset="0"/>
                <a:ea typeface="Courier New" pitchFamily="34" charset="-122"/>
                <a:cs typeface="Courier New" pitchFamily="34" charset="-120"/>
              </a:rPr>
              <a:t>assessments</a:t>
            </a:r>
            <a:endParaRPr lang="en-US" sz="1300" dirty="0"/>
          </a:p>
        </p:txBody>
      </p:sp>
      <p:sp>
        <p:nvSpPr>
          <p:cNvPr id="13" name="Text 10"/>
          <p:cNvSpPr txBox="1"/>
          <p:nvPr/>
        </p:nvSpPr>
        <p:spPr>
          <a:xfrm>
            <a:off x="987552" y="2670048"/>
            <a:ext cx="4224528" cy="457200"/>
          </a:xfrm>
          <a:prstGeom prst="rect">
            <a:avLst/>
          </a:prstGeom>
          <a:noFill/>
          <a:ln/>
        </p:spPr>
        <p:txBody>
          <a:bodyPr wrap="square" rtlCol="0" anchor="t"/>
          <a:lstStyle/>
          <a:p>
            <a:pPr marL="0" indent="0">
              <a:lnSpc>
                <a:spcPct val="120000"/>
              </a:lnSpc>
              <a:buNone/>
            </a:pPr>
            <a:r>
              <a:rPr lang="en-US" sz="1030" dirty="0">
                <a:solidFill>
                  <a:srgbClr val="6B7280"/>
                </a:solidFill>
                <a:latin typeface="Arial" pitchFamily="34" charset="0"/>
                <a:ea typeface="Arial" pitchFamily="34" charset="-122"/>
                <a:cs typeface="Arial" pitchFamily="34" charset="-120"/>
              </a:rPr>
              <a:t>Ghi nhận mỗi lượt đánh giá — loại đánh giá, tuổi &amp; giới tính tại đúng thời điểm đó.</a:t>
            </a:r>
            <a:endParaRPr lang="en-US" sz="1030" dirty="0"/>
          </a:p>
        </p:txBody>
      </p:sp>
      <p:sp>
        <p:nvSpPr>
          <p:cNvPr id="14" name="Shape 11"/>
          <p:cNvSpPr/>
          <p:nvPr/>
        </p:nvSpPr>
        <p:spPr>
          <a:xfrm>
            <a:off x="457200" y="3154680"/>
            <a:ext cx="384048" cy="384048"/>
          </a:xfrm>
          <a:prstGeom prst="ellipse">
            <a:avLst/>
          </a:prstGeom>
          <a:solidFill>
            <a:srgbClr val="0F5C57"/>
          </a:solidFill>
          <a:ln/>
        </p:spPr>
      </p:sp>
      <p:sp>
        <p:nvSpPr>
          <p:cNvPr id="15" name="Text 12"/>
          <p:cNvSpPr txBox="1"/>
          <p:nvPr/>
        </p:nvSpPr>
        <p:spPr>
          <a:xfrm>
            <a:off x="457200" y="31546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6" name="Text 13"/>
          <p:cNvSpPr txBox="1"/>
          <p:nvPr/>
        </p:nvSpPr>
        <p:spPr>
          <a:xfrm>
            <a:off x="987552" y="3127248"/>
            <a:ext cx="4224528" cy="310896"/>
          </a:xfrm>
          <a:prstGeom prst="rect">
            <a:avLst/>
          </a:prstGeom>
          <a:noFill/>
          <a:ln/>
        </p:spPr>
        <p:txBody>
          <a:bodyPr wrap="square" rtlCol="0" anchor="t"/>
          <a:lstStyle/>
          <a:p>
            <a:pPr marL="0" indent="0">
              <a:buNone/>
            </a:pPr>
            <a:r>
              <a:rPr lang="en-US" sz="1300" b="1" dirty="0">
                <a:solidFill>
                  <a:srgbClr val="0F5C57"/>
                </a:solidFill>
                <a:latin typeface="Courier New" pitchFamily="34" charset="0"/>
                <a:ea typeface="Courier New" pitchFamily="34" charset="-122"/>
                <a:cs typeface="Courier New" pitchFamily="34" charset="-120"/>
              </a:rPr>
              <a:t>symptom_assessments</a:t>
            </a:r>
            <a:endParaRPr lang="en-US" sz="1300" dirty="0"/>
          </a:p>
        </p:txBody>
      </p:sp>
      <p:sp>
        <p:nvSpPr>
          <p:cNvPr id="17" name="Text 14"/>
          <p:cNvSpPr txBox="1"/>
          <p:nvPr/>
        </p:nvSpPr>
        <p:spPr>
          <a:xfrm>
            <a:off x="987552" y="3447288"/>
            <a:ext cx="4224528" cy="457200"/>
          </a:xfrm>
          <a:prstGeom prst="rect">
            <a:avLst/>
          </a:prstGeom>
          <a:noFill/>
          <a:ln/>
        </p:spPr>
        <p:txBody>
          <a:bodyPr wrap="square" rtlCol="0" anchor="t"/>
          <a:lstStyle/>
          <a:p>
            <a:pPr marL="0" indent="0">
              <a:lnSpc>
                <a:spcPct val="120000"/>
              </a:lnSpc>
              <a:buNone/>
            </a:pPr>
            <a:r>
              <a:rPr lang="en-US" sz="1030" dirty="0">
                <a:solidFill>
                  <a:srgbClr val="6B7280"/>
                </a:solidFill>
                <a:latin typeface="Arial" pitchFamily="34" charset="0"/>
                <a:ea typeface="Arial" pitchFamily="34" charset="-122"/>
                <a:cs typeface="Arial" pitchFamily="34" charset="-120"/>
              </a:rPr>
              <a:t>Lưu 14 triệu chứng (0/1) của một lượt sàng lọc theo triệu chứng.</a:t>
            </a:r>
            <a:endParaRPr lang="en-US" sz="1030" dirty="0"/>
          </a:p>
        </p:txBody>
      </p:sp>
      <p:sp>
        <p:nvSpPr>
          <p:cNvPr id="18" name="Shape 15"/>
          <p:cNvSpPr/>
          <p:nvPr/>
        </p:nvSpPr>
        <p:spPr>
          <a:xfrm>
            <a:off x="457200" y="3931920"/>
            <a:ext cx="384048" cy="384048"/>
          </a:xfrm>
          <a:prstGeom prst="ellipse">
            <a:avLst/>
          </a:prstGeom>
          <a:solidFill>
            <a:srgbClr val="1C7293"/>
          </a:solidFill>
          <a:ln/>
        </p:spPr>
      </p:sp>
      <p:sp>
        <p:nvSpPr>
          <p:cNvPr id="19" name="Text 16"/>
          <p:cNvSpPr txBox="1"/>
          <p:nvPr/>
        </p:nvSpPr>
        <p:spPr>
          <a:xfrm>
            <a:off x="457200" y="39319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0" name="Text 17"/>
          <p:cNvSpPr txBox="1"/>
          <p:nvPr/>
        </p:nvSpPr>
        <p:spPr>
          <a:xfrm>
            <a:off x="987552" y="3904488"/>
            <a:ext cx="4224528" cy="310896"/>
          </a:xfrm>
          <a:prstGeom prst="rect">
            <a:avLst/>
          </a:prstGeom>
          <a:noFill/>
          <a:ln/>
        </p:spPr>
        <p:txBody>
          <a:bodyPr wrap="square" rtlCol="0" anchor="t"/>
          <a:lstStyle/>
          <a:p>
            <a:pPr marL="0" indent="0">
              <a:buNone/>
            </a:pPr>
            <a:r>
              <a:rPr lang="en-US" sz="1300" b="1" dirty="0">
                <a:solidFill>
                  <a:srgbClr val="1C7293"/>
                </a:solidFill>
                <a:latin typeface="Courier New" pitchFamily="34" charset="0"/>
                <a:ea typeface="Courier New" pitchFamily="34" charset="-122"/>
                <a:cs typeface="Courier New" pitchFamily="34" charset="-120"/>
              </a:rPr>
              <a:t>clinical_assessments</a:t>
            </a:r>
            <a:endParaRPr lang="en-US" sz="1300" dirty="0"/>
          </a:p>
        </p:txBody>
      </p:sp>
      <p:sp>
        <p:nvSpPr>
          <p:cNvPr id="21" name="Text 18"/>
          <p:cNvSpPr txBox="1"/>
          <p:nvPr/>
        </p:nvSpPr>
        <p:spPr>
          <a:xfrm>
            <a:off x="987552" y="4224528"/>
            <a:ext cx="4224528" cy="457200"/>
          </a:xfrm>
          <a:prstGeom prst="rect">
            <a:avLst/>
          </a:prstGeom>
          <a:noFill/>
          <a:ln/>
        </p:spPr>
        <p:txBody>
          <a:bodyPr wrap="square" rtlCol="0" anchor="t"/>
          <a:lstStyle/>
          <a:p>
            <a:pPr marL="0" indent="0">
              <a:lnSpc>
                <a:spcPct val="120000"/>
              </a:lnSpc>
              <a:buNone/>
            </a:pPr>
            <a:r>
              <a:rPr lang="en-US" sz="1030" dirty="0">
                <a:solidFill>
                  <a:srgbClr val="6B7280"/>
                </a:solidFill>
                <a:latin typeface="Arial" pitchFamily="34" charset="0"/>
                <a:ea typeface="Arial" pitchFamily="34" charset="-122"/>
                <a:cs typeface="Arial" pitchFamily="34" charset="-120"/>
              </a:rPr>
              <a:t>Lưu 7 chỉ số xét nghiệm (Glucose, BMI...) của một lượt đánh giá theo chỉ số.</a:t>
            </a:r>
            <a:endParaRPr lang="en-US" sz="1030" dirty="0"/>
          </a:p>
        </p:txBody>
      </p:sp>
      <p:sp>
        <p:nvSpPr>
          <p:cNvPr id="22" name="Shape 19"/>
          <p:cNvSpPr/>
          <p:nvPr/>
        </p:nvSpPr>
        <p:spPr>
          <a:xfrm>
            <a:off x="457200" y="4709160"/>
            <a:ext cx="384048" cy="384048"/>
          </a:xfrm>
          <a:prstGeom prst="ellipse">
            <a:avLst/>
          </a:prstGeom>
          <a:solidFill>
            <a:srgbClr val="0F5C57"/>
          </a:solidFill>
          <a:ln/>
        </p:spPr>
      </p:sp>
      <p:sp>
        <p:nvSpPr>
          <p:cNvPr id="23" name="Text 20"/>
          <p:cNvSpPr txBox="1"/>
          <p:nvPr/>
        </p:nvSpPr>
        <p:spPr>
          <a:xfrm>
            <a:off x="457200" y="47091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4" name="Text 21"/>
          <p:cNvSpPr txBox="1"/>
          <p:nvPr/>
        </p:nvSpPr>
        <p:spPr>
          <a:xfrm>
            <a:off x="987552" y="4681728"/>
            <a:ext cx="4224528" cy="310896"/>
          </a:xfrm>
          <a:prstGeom prst="rect">
            <a:avLst/>
          </a:prstGeom>
          <a:noFill/>
          <a:ln/>
        </p:spPr>
        <p:txBody>
          <a:bodyPr wrap="square" rtlCol="0" anchor="t"/>
          <a:lstStyle/>
          <a:p>
            <a:pPr marL="0" indent="0">
              <a:buNone/>
            </a:pPr>
            <a:r>
              <a:rPr lang="en-US" sz="1300" b="1" dirty="0">
                <a:solidFill>
                  <a:srgbClr val="0F5C57"/>
                </a:solidFill>
                <a:latin typeface="Courier New" pitchFamily="34" charset="0"/>
                <a:ea typeface="Courier New" pitchFamily="34" charset="-122"/>
                <a:cs typeface="Courier New" pitchFamily="34" charset="-120"/>
              </a:rPr>
              <a:t>ml_models</a:t>
            </a:r>
            <a:endParaRPr lang="en-US" sz="1300" dirty="0"/>
          </a:p>
        </p:txBody>
      </p:sp>
      <p:sp>
        <p:nvSpPr>
          <p:cNvPr id="25" name="Text 22"/>
          <p:cNvSpPr txBox="1"/>
          <p:nvPr/>
        </p:nvSpPr>
        <p:spPr>
          <a:xfrm>
            <a:off x="987552" y="5001768"/>
            <a:ext cx="4224528" cy="457200"/>
          </a:xfrm>
          <a:prstGeom prst="rect">
            <a:avLst/>
          </a:prstGeom>
          <a:noFill/>
          <a:ln/>
        </p:spPr>
        <p:txBody>
          <a:bodyPr wrap="square" rtlCol="0" anchor="t"/>
          <a:lstStyle/>
          <a:p>
            <a:pPr marL="0" indent="0">
              <a:lnSpc>
                <a:spcPct val="120000"/>
              </a:lnSpc>
              <a:buNone/>
            </a:pPr>
            <a:r>
              <a:rPr lang="en-US" sz="1030" dirty="0">
                <a:solidFill>
                  <a:srgbClr val="6B7280"/>
                </a:solidFill>
                <a:latin typeface="Arial" pitchFamily="34" charset="0"/>
                <a:ea typeface="Arial" pitchFamily="34" charset="-122"/>
                <a:cs typeface="Arial" pitchFamily="34" charset="-120"/>
              </a:rPr>
              <a:t>Thông tin từng phiên bản model: thuật toán, đường dẫn file .joblib, điểm số.</a:t>
            </a:r>
            <a:endParaRPr lang="en-US" sz="1030" dirty="0"/>
          </a:p>
        </p:txBody>
      </p:sp>
      <p:sp>
        <p:nvSpPr>
          <p:cNvPr id="26" name="Shape 23"/>
          <p:cNvSpPr/>
          <p:nvPr/>
        </p:nvSpPr>
        <p:spPr>
          <a:xfrm>
            <a:off x="457200" y="5486400"/>
            <a:ext cx="384048" cy="384048"/>
          </a:xfrm>
          <a:prstGeom prst="ellipse">
            <a:avLst/>
          </a:prstGeom>
          <a:solidFill>
            <a:srgbClr val="1C7293"/>
          </a:solidFill>
          <a:ln/>
        </p:spPr>
      </p:sp>
      <p:sp>
        <p:nvSpPr>
          <p:cNvPr id="27" name="Text 24"/>
          <p:cNvSpPr txBox="1"/>
          <p:nvPr/>
        </p:nvSpPr>
        <p:spPr>
          <a:xfrm>
            <a:off x="457200" y="54864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8" name="Text 25"/>
          <p:cNvSpPr txBox="1"/>
          <p:nvPr/>
        </p:nvSpPr>
        <p:spPr>
          <a:xfrm>
            <a:off x="987552" y="5458968"/>
            <a:ext cx="4224528" cy="310896"/>
          </a:xfrm>
          <a:prstGeom prst="rect">
            <a:avLst/>
          </a:prstGeom>
          <a:noFill/>
          <a:ln/>
        </p:spPr>
        <p:txBody>
          <a:bodyPr wrap="square" rtlCol="0" anchor="t"/>
          <a:lstStyle/>
          <a:p>
            <a:pPr marL="0" indent="0">
              <a:buNone/>
            </a:pPr>
            <a:r>
              <a:rPr lang="en-US" sz="1300" b="1" dirty="0">
                <a:solidFill>
                  <a:srgbClr val="1C7293"/>
                </a:solidFill>
                <a:latin typeface="Courier New" pitchFamily="34" charset="0"/>
                <a:ea typeface="Courier New" pitchFamily="34" charset="-122"/>
                <a:cs typeface="Courier New" pitchFamily="34" charset="-120"/>
              </a:rPr>
              <a:t>predictions</a:t>
            </a:r>
            <a:endParaRPr lang="en-US" sz="1300" dirty="0"/>
          </a:p>
        </p:txBody>
      </p:sp>
      <p:sp>
        <p:nvSpPr>
          <p:cNvPr id="29" name="Text 26"/>
          <p:cNvSpPr txBox="1"/>
          <p:nvPr/>
        </p:nvSpPr>
        <p:spPr>
          <a:xfrm>
            <a:off x="987552" y="5779008"/>
            <a:ext cx="4224528" cy="457200"/>
          </a:xfrm>
          <a:prstGeom prst="rect">
            <a:avLst/>
          </a:prstGeom>
          <a:noFill/>
          <a:ln/>
        </p:spPr>
        <p:txBody>
          <a:bodyPr wrap="square" rtlCol="0" anchor="t"/>
          <a:lstStyle/>
          <a:p>
            <a:pPr marL="0" indent="0">
              <a:lnSpc>
                <a:spcPct val="120000"/>
              </a:lnSpc>
              <a:buNone/>
            </a:pPr>
            <a:r>
              <a:rPr lang="en-US" sz="1030" dirty="0">
                <a:solidFill>
                  <a:srgbClr val="6B7280"/>
                </a:solidFill>
                <a:latin typeface="Arial" pitchFamily="34" charset="0"/>
                <a:ea typeface="Arial" pitchFamily="34" charset="-122"/>
                <a:cs typeface="Arial" pitchFamily="34" charset="-120"/>
              </a:rPr>
              <a:t>Kết quả dự đoán — xác suất, mức rủi ro, gắn với đúng model đã tạo ra nó.</a:t>
            </a:r>
            <a:endParaRPr lang="en-US" sz="1030" dirty="0"/>
          </a:p>
        </p:txBody>
      </p:sp>
      <p:sp>
        <p:nvSpPr>
          <p:cNvPr id="30" name="Text 27"/>
          <p:cNvSpPr txBox="1"/>
          <p:nvPr/>
        </p:nvSpPr>
        <p:spPr>
          <a:xfrm>
            <a:off x="11000232" y="6473952"/>
            <a:ext cx="914400" cy="274320"/>
          </a:xfrm>
          <a:prstGeom prst="rect">
            <a:avLst/>
          </a:prstGeom>
          <a:noFill/>
          <a:ln/>
        </p:spPr>
        <p:txBody>
          <a:bodyPr wrap="square" rtlCol="0" anchor="ctr"/>
          <a:lstStyle/>
          <a:p>
            <a:pPr marL="0" indent="0" algn="r">
              <a:buNone/>
            </a:pPr>
            <a:r>
              <a:rPr lang="en-US" sz="900" dirty="0">
                <a:solidFill>
                  <a:srgbClr val="6B7280"/>
                </a:solidFill>
                <a:latin typeface="Arial" pitchFamily="34" charset="0"/>
                <a:ea typeface="Arial" pitchFamily="34" charset="-122"/>
                <a:cs typeface="Arial" pitchFamily="34" charset="-120"/>
              </a:rPr>
              <a:t>04 / 11</a:t>
            </a:r>
            <a:endParaRPr lang="en-US" sz="900" dirty="0"/>
          </a:p>
        </p:txBody>
      </p:sp>
      <p:sp>
        <p:nvSpPr>
          <p:cNvPr id="31" name="Text 28"/>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Arial" pitchFamily="34" charset="0"/>
                <a:ea typeface="Arial" pitchFamily="34" charset="-122"/>
                <a:cs typeface="Arial" pitchFamily="34" charset="-120"/>
              </a:rPr>
              <a:t>Đồ án Python HK3 — Sàng lọc &amp; dự đoán nguy cơ tiểu đường</a:t>
            </a:r>
            <a:endParaRPr lang="en-US" sz="9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0058400" cy="274320"/>
          </a:xfrm>
          <a:prstGeom prst="rect">
            <a:avLst/>
          </a:prstGeom>
          <a:noFill/>
          <a:ln/>
        </p:spPr>
        <p:txBody>
          <a:bodyPr wrap="square" rtlCol="0" anchor="t"/>
          <a:lstStyle/>
          <a:p>
            <a:pPr marL="0" indent="0">
              <a:buNone/>
            </a:pPr>
            <a:r>
              <a:rPr lang="en-US" sz="1200" b="1" kern="0" spc="200" dirty="0">
                <a:solidFill>
                  <a:srgbClr val="0F5C57"/>
                </a:solidFill>
                <a:latin typeface="Arial" pitchFamily="34" charset="0"/>
                <a:ea typeface="Arial" pitchFamily="34" charset="-122"/>
                <a:cs typeface="Arial" pitchFamily="34" charset="-120"/>
              </a:rPr>
              <a:t>NGHIỆP VỤ ỨNG DỤNG</a:t>
            </a:r>
            <a:endParaRPr lang="en-US" sz="1200" dirty="0"/>
          </a:p>
        </p:txBody>
      </p:sp>
      <p:sp>
        <p:nvSpPr>
          <p:cNvPr id="3" name="Text 1"/>
          <p:cNvSpPr txBox="1"/>
          <p:nvPr/>
        </p:nvSpPr>
        <p:spPr>
          <a:xfrm>
            <a:off x="457200" y="566928"/>
            <a:ext cx="11247120" cy="640080"/>
          </a:xfrm>
          <a:prstGeom prst="rect">
            <a:avLst/>
          </a:prstGeom>
          <a:noFill/>
          <a:ln/>
        </p:spPr>
        <p:txBody>
          <a:bodyPr wrap="square" rtlCol="0" anchor="t"/>
          <a:lstStyle/>
          <a:p>
            <a:pPr marL="0" indent="0">
              <a:buNone/>
            </a:pPr>
            <a:r>
              <a:rPr lang="en-US" sz="2800" b="1" dirty="0">
                <a:solidFill>
                  <a:srgbClr val="1A1F36"/>
                </a:solidFill>
                <a:latin typeface="Century Schoolbook" pitchFamily="34" charset="0"/>
                <a:ea typeface="Century Schoolbook" pitchFamily="34" charset="-122"/>
                <a:cs typeface="Century Schoolbook" pitchFamily="34" charset="-120"/>
              </a:rPr>
              <a:t>6 tab chức năng chính</a:t>
            </a:r>
            <a:endParaRPr lang="en-US" sz="2800" dirty="0"/>
          </a:p>
        </p:txBody>
      </p:sp>
      <p:sp>
        <p:nvSpPr>
          <p:cNvPr id="4" name="Shape 2"/>
          <p:cNvSpPr/>
          <p:nvPr/>
        </p:nvSpPr>
        <p:spPr>
          <a:xfrm>
            <a:off x="5632704" y="1655064"/>
            <a:ext cx="6108192" cy="4061415"/>
          </a:xfrm>
          <a:prstGeom prst="roundRect">
            <a:avLst>
              <a:gd name="adj" fmla="val 2251"/>
            </a:avLst>
          </a:prstGeom>
          <a:solidFill>
            <a:srgbClr val="FFFFFF"/>
          </a:solidFill>
          <a:ln w="12700">
            <a:solidFill>
              <a:srgbClr val="CDE6DF"/>
            </a:solidFill>
            <a:prstDash val="solid"/>
          </a:ln>
          <a:effectLst>
            <a:outerShdw blurRad="101600" dist="38100" dir="5400000" algn="bl" rotWithShape="0">
              <a:srgbClr val="8FB3AC">
                <a:alpha val="35000"/>
              </a:srgbClr>
            </a:outerShdw>
          </a:effectLst>
        </p:spPr>
      </p:sp>
      <p:pic>
        <p:nvPicPr>
          <p:cNvPr id="5" name="Image 0" descr="/tmp/claude-0/-home-claude/361a06a6-d436-5036-837e-52e1b04c94ff/scratchpad/proj/screens/01_tong_quan.png"/>
          <p:cNvPicPr>
            <a:picLocks noChangeAspect="1"/>
          </p:cNvPicPr>
          <p:nvPr/>
        </p:nvPicPr>
        <p:blipFill>
          <a:blip r:embed="rId3"/>
          <a:srcRect/>
          <a:stretch/>
        </p:blipFill>
        <p:spPr>
          <a:xfrm>
            <a:off x="5669280" y="1691640"/>
            <a:ext cx="6035040" cy="3988263"/>
          </a:xfrm>
          <a:prstGeom prst="rect">
            <a:avLst/>
          </a:prstGeom>
        </p:spPr>
      </p:pic>
      <p:sp>
        <p:nvSpPr>
          <p:cNvPr id="6" name="Shape 3"/>
          <p:cNvSpPr/>
          <p:nvPr/>
        </p:nvSpPr>
        <p:spPr>
          <a:xfrm>
            <a:off x="457200" y="1600200"/>
            <a:ext cx="420624" cy="420624"/>
          </a:xfrm>
          <a:prstGeom prst="ellipse">
            <a:avLst/>
          </a:prstGeom>
          <a:solidFill>
            <a:srgbClr val="0F5C57"/>
          </a:solidFill>
          <a:ln/>
        </p:spPr>
      </p:sp>
      <p:sp>
        <p:nvSpPr>
          <p:cNvPr id="7" name="Text 4"/>
          <p:cNvSpPr txBox="1"/>
          <p:nvPr/>
        </p:nvSpPr>
        <p:spPr>
          <a:xfrm>
            <a:off x="457200" y="160020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5"/>
          <p:cNvSpPr txBox="1"/>
          <p:nvPr/>
        </p:nvSpPr>
        <p:spPr>
          <a:xfrm>
            <a:off x="1024128" y="1572768"/>
            <a:ext cx="4343400" cy="320040"/>
          </a:xfrm>
          <a:prstGeom prst="rect">
            <a:avLst/>
          </a:prstGeom>
          <a:noFill/>
          <a:ln/>
        </p:spPr>
        <p:txBody>
          <a:bodyPr wrap="square" rtlCol="0" anchor="t"/>
          <a:lstStyle/>
          <a:p>
            <a:pPr marL="0" indent="0">
              <a:buNone/>
            </a:pPr>
            <a:r>
              <a:rPr lang="en-US" sz="1300" b="1" dirty="0">
                <a:solidFill>
                  <a:srgbClr val="1A1F36"/>
                </a:solidFill>
                <a:latin typeface="Arial" pitchFamily="34" charset="0"/>
                <a:ea typeface="Arial" pitchFamily="34" charset="-122"/>
                <a:cs typeface="Arial" pitchFamily="34" charset="-120"/>
              </a:rPr>
              <a:t>Tổng quan</a:t>
            </a:r>
            <a:endParaRPr lang="en-US" sz="1300" dirty="0"/>
          </a:p>
        </p:txBody>
      </p:sp>
      <p:sp>
        <p:nvSpPr>
          <p:cNvPr id="9" name="Text 6"/>
          <p:cNvSpPr txBox="1"/>
          <p:nvPr/>
        </p:nvSpPr>
        <p:spPr>
          <a:xfrm>
            <a:off x="1024128" y="1892808"/>
            <a:ext cx="4343400" cy="457200"/>
          </a:xfrm>
          <a:prstGeom prst="rect">
            <a:avLst/>
          </a:prstGeom>
          <a:noFill/>
          <a:ln/>
        </p:spPr>
        <p:txBody>
          <a:bodyPr wrap="square" rtlCol="0" anchor="t"/>
          <a:lstStyle/>
          <a:p>
            <a:pPr marL="0" indent="0">
              <a:lnSpc>
                <a:spcPct val="120000"/>
              </a:lnSpc>
              <a:buNone/>
            </a:pPr>
            <a:r>
              <a:rPr lang="en-US" sz="1050" dirty="0">
                <a:solidFill>
                  <a:srgbClr val="6B7280"/>
                </a:solidFill>
                <a:latin typeface="Arial" pitchFamily="34" charset="0"/>
                <a:ea typeface="Arial" pitchFamily="34" charset="-122"/>
                <a:cs typeface="Arial" pitchFamily="34" charset="-120"/>
              </a:rPr>
              <a:t>4 ô số liệu, 2 biểu đồ cột tự vẽ, bảng 10 lượt gần nhất</a:t>
            </a:r>
            <a:endParaRPr lang="en-US" sz="1050" dirty="0"/>
          </a:p>
        </p:txBody>
      </p:sp>
      <p:sp>
        <p:nvSpPr>
          <p:cNvPr id="10" name="Shape 7"/>
          <p:cNvSpPr/>
          <p:nvPr/>
        </p:nvSpPr>
        <p:spPr>
          <a:xfrm>
            <a:off x="457200" y="2377440"/>
            <a:ext cx="420624" cy="420624"/>
          </a:xfrm>
          <a:prstGeom prst="ellipse">
            <a:avLst/>
          </a:prstGeom>
          <a:solidFill>
            <a:srgbClr val="1C7293"/>
          </a:solidFill>
          <a:ln/>
        </p:spPr>
      </p:sp>
      <p:sp>
        <p:nvSpPr>
          <p:cNvPr id="11" name="Text 8"/>
          <p:cNvSpPr txBox="1"/>
          <p:nvPr/>
        </p:nvSpPr>
        <p:spPr>
          <a:xfrm>
            <a:off x="457200" y="237744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9"/>
          <p:cNvSpPr txBox="1"/>
          <p:nvPr/>
        </p:nvSpPr>
        <p:spPr>
          <a:xfrm>
            <a:off x="1024128" y="2350008"/>
            <a:ext cx="4343400" cy="320040"/>
          </a:xfrm>
          <a:prstGeom prst="rect">
            <a:avLst/>
          </a:prstGeom>
          <a:noFill/>
          <a:ln/>
        </p:spPr>
        <p:txBody>
          <a:bodyPr wrap="square" rtlCol="0" anchor="t"/>
          <a:lstStyle/>
          <a:p>
            <a:pPr marL="0" indent="0">
              <a:buNone/>
            </a:pPr>
            <a:r>
              <a:rPr lang="en-US" sz="1300" b="1" dirty="0">
                <a:solidFill>
                  <a:srgbClr val="1A1F36"/>
                </a:solidFill>
                <a:latin typeface="Arial" pitchFamily="34" charset="0"/>
                <a:ea typeface="Arial" pitchFamily="34" charset="-122"/>
                <a:cs typeface="Arial" pitchFamily="34" charset="-120"/>
              </a:rPr>
              <a:t>Bệnh nhân</a:t>
            </a:r>
            <a:endParaRPr lang="en-US" sz="1300" dirty="0"/>
          </a:p>
        </p:txBody>
      </p:sp>
      <p:sp>
        <p:nvSpPr>
          <p:cNvPr id="13" name="Text 10"/>
          <p:cNvSpPr txBox="1"/>
          <p:nvPr/>
        </p:nvSpPr>
        <p:spPr>
          <a:xfrm>
            <a:off x="1024128" y="2670048"/>
            <a:ext cx="4343400" cy="457200"/>
          </a:xfrm>
          <a:prstGeom prst="rect">
            <a:avLst/>
          </a:prstGeom>
          <a:noFill/>
          <a:ln/>
        </p:spPr>
        <p:txBody>
          <a:bodyPr wrap="square" rtlCol="0" anchor="t"/>
          <a:lstStyle/>
          <a:p>
            <a:pPr marL="0" indent="0">
              <a:lnSpc>
                <a:spcPct val="120000"/>
              </a:lnSpc>
              <a:buNone/>
            </a:pPr>
            <a:r>
              <a:rPr lang="en-US" sz="1050" dirty="0">
                <a:solidFill>
                  <a:srgbClr val="6B7280"/>
                </a:solidFill>
                <a:latin typeface="Arial" pitchFamily="34" charset="0"/>
                <a:ea typeface="Arial" pitchFamily="34" charset="-122"/>
                <a:cs typeface="Arial" pitchFamily="34" charset="-120"/>
              </a:rPr>
              <a:t>Tìm kiếm, danh sách, form thêm / sửa hồ sơ</a:t>
            </a:r>
            <a:endParaRPr lang="en-US" sz="1050" dirty="0"/>
          </a:p>
        </p:txBody>
      </p:sp>
      <p:sp>
        <p:nvSpPr>
          <p:cNvPr id="14" name="Shape 11"/>
          <p:cNvSpPr/>
          <p:nvPr/>
        </p:nvSpPr>
        <p:spPr>
          <a:xfrm>
            <a:off x="457200" y="3154680"/>
            <a:ext cx="420624" cy="420624"/>
          </a:xfrm>
          <a:prstGeom prst="ellipse">
            <a:avLst/>
          </a:prstGeom>
          <a:solidFill>
            <a:srgbClr val="0F5C57"/>
          </a:solidFill>
          <a:ln/>
        </p:spPr>
      </p:sp>
      <p:sp>
        <p:nvSpPr>
          <p:cNvPr id="15" name="Text 12"/>
          <p:cNvSpPr txBox="1"/>
          <p:nvPr/>
        </p:nvSpPr>
        <p:spPr>
          <a:xfrm>
            <a:off x="457200" y="315468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6" name="Text 13"/>
          <p:cNvSpPr txBox="1"/>
          <p:nvPr/>
        </p:nvSpPr>
        <p:spPr>
          <a:xfrm>
            <a:off x="1024128" y="3127248"/>
            <a:ext cx="4343400" cy="320040"/>
          </a:xfrm>
          <a:prstGeom prst="rect">
            <a:avLst/>
          </a:prstGeom>
          <a:noFill/>
          <a:ln/>
        </p:spPr>
        <p:txBody>
          <a:bodyPr wrap="square" rtlCol="0" anchor="t"/>
          <a:lstStyle/>
          <a:p>
            <a:pPr marL="0" indent="0">
              <a:buNone/>
            </a:pPr>
            <a:r>
              <a:rPr lang="en-US" sz="1300" b="1" dirty="0">
                <a:solidFill>
                  <a:srgbClr val="1A1F36"/>
                </a:solidFill>
                <a:latin typeface="Arial" pitchFamily="34" charset="0"/>
                <a:ea typeface="Arial" pitchFamily="34" charset="-122"/>
                <a:cs typeface="Arial" pitchFamily="34" charset="-120"/>
              </a:rPr>
              <a:t>Sàng lọc triệu chứng</a:t>
            </a:r>
            <a:endParaRPr lang="en-US" sz="1300" dirty="0"/>
          </a:p>
        </p:txBody>
      </p:sp>
      <p:sp>
        <p:nvSpPr>
          <p:cNvPr id="17" name="Text 14"/>
          <p:cNvSpPr txBox="1"/>
          <p:nvPr/>
        </p:nvSpPr>
        <p:spPr>
          <a:xfrm>
            <a:off x="1024128" y="3447288"/>
            <a:ext cx="4343400" cy="457200"/>
          </a:xfrm>
          <a:prstGeom prst="rect">
            <a:avLst/>
          </a:prstGeom>
          <a:noFill/>
          <a:ln/>
        </p:spPr>
        <p:txBody>
          <a:bodyPr wrap="square" rtlCol="0" anchor="t"/>
          <a:lstStyle/>
          <a:p>
            <a:pPr marL="0" indent="0">
              <a:lnSpc>
                <a:spcPct val="120000"/>
              </a:lnSpc>
              <a:buNone/>
            </a:pPr>
            <a:r>
              <a:rPr lang="en-US" sz="1050" dirty="0">
                <a:solidFill>
                  <a:srgbClr val="6B7280"/>
                </a:solidFill>
                <a:latin typeface="Arial" pitchFamily="34" charset="0"/>
                <a:ea typeface="Arial" pitchFamily="34" charset="-122"/>
                <a:cs typeface="Arial" pitchFamily="34" charset="-120"/>
              </a:rPr>
              <a:t>Chọn bệnh nhân, tích 14 ô, bấm Dự đoán</a:t>
            </a:r>
            <a:endParaRPr lang="en-US" sz="1050" dirty="0"/>
          </a:p>
        </p:txBody>
      </p:sp>
      <p:sp>
        <p:nvSpPr>
          <p:cNvPr id="18" name="Shape 15"/>
          <p:cNvSpPr/>
          <p:nvPr/>
        </p:nvSpPr>
        <p:spPr>
          <a:xfrm>
            <a:off x="457200" y="3931920"/>
            <a:ext cx="420624" cy="420624"/>
          </a:xfrm>
          <a:prstGeom prst="ellipse">
            <a:avLst/>
          </a:prstGeom>
          <a:solidFill>
            <a:srgbClr val="1C7293"/>
          </a:solidFill>
          <a:ln/>
        </p:spPr>
      </p:sp>
      <p:sp>
        <p:nvSpPr>
          <p:cNvPr id="19" name="Text 16"/>
          <p:cNvSpPr txBox="1"/>
          <p:nvPr/>
        </p:nvSpPr>
        <p:spPr>
          <a:xfrm>
            <a:off x="457200" y="393192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0" name="Text 17"/>
          <p:cNvSpPr txBox="1"/>
          <p:nvPr/>
        </p:nvSpPr>
        <p:spPr>
          <a:xfrm>
            <a:off x="1024128" y="3904488"/>
            <a:ext cx="4343400" cy="320040"/>
          </a:xfrm>
          <a:prstGeom prst="rect">
            <a:avLst/>
          </a:prstGeom>
          <a:noFill/>
          <a:ln/>
        </p:spPr>
        <p:txBody>
          <a:bodyPr wrap="square" rtlCol="0" anchor="t"/>
          <a:lstStyle/>
          <a:p>
            <a:pPr marL="0" indent="0">
              <a:buNone/>
            </a:pPr>
            <a:r>
              <a:rPr lang="en-US" sz="1300" b="1" dirty="0">
                <a:solidFill>
                  <a:srgbClr val="1A1F36"/>
                </a:solidFill>
                <a:latin typeface="Arial" pitchFamily="34" charset="0"/>
                <a:ea typeface="Arial" pitchFamily="34" charset="-122"/>
                <a:cs typeface="Arial" pitchFamily="34" charset="-120"/>
              </a:rPr>
              <a:t>Đánh giá chỉ số</a:t>
            </a:r>
            <a:endParaRPr lang="en-US" sz="1300" dirty="0"/>
          </a:p>
        </p:txBody>
      </p:sp>
      <p:sp>
        <p:nvSpPr>
          <p:cNvPr id="21" name="Text 18"/>
          <p:cNvSpPr txBox="1"/>
          <p:nvPr/>
        </p:nvSpPr>
        <p:spPr>
          <a:xfrm>
            <a:off x="1024128" y="4224528"/>
            <a:ext cx="4343400" cy="457200"/>
          </a:xfrm>
          <a:prstGeom prst="rect">
            <a:avLst/>
          </a:prstGeom>
          <a:noFill/>
          <a:ln/>
        </p:spPr>
        <p:txBody>
          <a:bodyPr wrap="square" rtlCol="0" anchor="t"/>
          <a:lstStyle/>
          <a:p>
            <a:pPr marL="0" indent="0">
              <a:lnSpc>
                <a:spcPct val="120000"/>
              </a:lnSpc>
              <a:buNone/>
            </a:pPr>
            <a:r>
              <a:rPr lang="en-US" sz="1050" dirty="0">
                <a:solidFill>
                  <a:srgbClr val="6B7280"/>
                </a:solidFill>
                <a:latin typeface="Arial" pitchFamily="34" charset="0"/>
                <a:ea typeface="Arial" pitchFamily="34" charset="-122"/>
                <a:cs typeface="Arial" pitchFamily="34" charset="-120"/>
              </a:rPr>
              <a:t>Chọn bệnh nhân, nhập 7 chỉ số, bấm Dự đoán</a:t>
            </a:r>
            <a:endParaRPr lang="en-US" sz="1050" dirty="0"/>
          </a:p>
        </p:txBody>
      </p:sp>
      <p:sp>
        <p:nvSpPr>
          <p:cNvPr id="22" name="Shape 19"/>
          <p:cNvSpPr/>
          <p:nvPr/>
        </p:nvSpPr>
        <p:spPr>
          <a:xfrm>
            <a:off x="457200" y="4709160"/>
            <a:ext cx="420624" cy="420624"/>
          </a:xfrm>
          <a:prstGeom prst="ellipse">
            <a:avLst/>
          </a:prstGeom>
          <a:solidFill>
            <a:srgbClr val="0F5C57"/>
          </a:solidFill>
          <a:ln/>
        </p:spPr>
      </p:sp>
      <p:sp>
        <p:nvSpPr>
          <p:cNvPr id="23" name="Text 20"/>
          <p:cNvSpPr txBox="1"/>
          <p:nvPr/>
        </p:nvSpPr>
        <p:spPr>
          <a:xfrm>
            <a:off x="457200" y="470916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4" name="Text 21"/>
          <p:cNvSpPr txBox="1"/>
          <p:nvPr/>
        </p:nvSpPr>
        <p:spPr>
          <a:xfrm>
            <a:off x="1024128" y="4681728"/>
            <a:ext cx="4343400" cy="320040"/>
          </a:xfrm>
          <a:prstGeom prst="rect">
            <a:avLst/>
          </a:prstGeom>
          <a:noFill/>
          <a:ln/>
        </p:spPr>
        <p:txBody>
          <a:bodyPr wrap="square" rtlCol="0" anchor="t"/>
          <a:lstStyle/>
          <a:p>
            <a:pPr marL="0" indent="0">
              <a:buNone/>
            </a:pPr>
            <a:r>
              <a:rPr lang="en-US" sz="1300" b="1" dirty="0">
                <a:solidFill>
                  <a:srgbClr val="1A1F36"/>
                </a:solidFill>
                <a:latin typeface="Arial" pitchFamily="34" charset="0"/>
                <a:ea typeface="Arial" pitchFamily="34" charset="-122"/>
                <a:cs typeface="Arial" pitchFamily="34" charset="-120"/>
              </a:rPr>
              <a:t>Lịch sử</a:t>
            </a:r>
            <a:endParaRPr lang="en-US" sz="1300" dirty="0"/>
          </a:p>
        </p:txBody>
      </p:sp>
      <p:sp>
        <p:nvSpPr>
          <p:cNvPr id="25" name="Text 22"/>
          <p:cNvSpPr txBox="1"/>
          <p:nvPr/>
        </p:nvSpPr>
        <p:spPr>
          <a:xfrm>
            <a:off x="1024128" y="5001768"/>
            <a:ext cx="4343400" cy="457200"/>
          </a:xfrm>
          <a:prstGeom prst="rect">
            <a:avLst/>
          </a:prstGeom>
          <a:noFill/>
          <a:ln/>
        </p:spPr>
        <p:txBody>
          <a:bodyPr wrap="square" rtlCol="0" anchor="t"/>
          <a:lstStyle/>
          <a:p>
            <a:pPr marL="0" indent="0">
              <a:lnSpc>
                <a:spcPct val="120000"/>
              </a:lnSpc>
              <a:buNone/>
            </a:pPr>
            <a:r>
              <a:rPr lang="en-US" sz="1050" dirty="0">
                <a:solidFill>
                  <a:srgbClr val="6B7280"/>
                </a:solidFill>
                <a:latin typeface="Arial" pitchFamily="34" charset="0"/>
                <a:ea typeface="Arial" pitchFamily="34" charset="-122"/>
                <a:cs typeface="Arial" pitchFamily="34" charset="-120"/>
              </a:rPr>
              <a:t>3 bộ lọc, bảng kết quả, xem chi tiết từng lượt</a:t>
            </a:r>
            <a:endParaRPr lang="en-US" sz="1050" dirty="0"/>
          </a:p>
        </p:txBody>
      </p:sp>
      <p:sp>
        <p:nvSpPr>
          <p:cNvPr id="26" name="Shape 23"/>
          <p:cNvSpPr/>
          <p:nvPr/>
        </p:nvSpPr>
        <p:spPr>
          <a:xfrm>
            <a:off x="457200" y="5486400"/>
            <a:ext cx="420624" cy="420624"/>
          </a:xfrm>
          <a:prstGeom prst="ellipse">
            <a:avLst/>
          </a:prstGeom>
          <a:solidFill>
            <a:srgbClr val="1C7293"/>
          </a:solidFill>
          <a:ln/>
        </p:spPr>
      </p:sp>
      <p:sp>
        <p:nvSpPr>
          <p:cNvPr id="27" name="Text 24"/>
          <p:cNvSpPr txBox="1"/>
          <p:nvPr/>
        </p:nvSpPr>
        <p:spPr>
          <a:xfrm>
            <a:off x="457200" y="548640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8" name="Text 25"/>
          <p:cNvSpPr txBox="1"/>
          <p:nvPr/>
        </p:nvSpPr>
        <p:spPr>
          <a:xfrm>
            <a:off x="1024128" y="5458968"/>
            <a:ext cx="4343400" cy="320040"/>
          </a:xfrm>
          <a:prstGeom prst="rect">
            <a:avLst/>
          </a:prstGeom>
          <a:noFill/>
          <a:ln/>
        </p:spPr>
        <p:txBody>
          <a:bodyPr wrap="square" rtlCol="0" anchor="t"/>
          <a:lstStyle/>
          <a:p>
            <a:pPr marL="0" indent="0">
              <a:buNone/>
            </a:pPr>
            <a:r>
              <a:rPr lang="en-US" sz="1300" b="1" dirty="0">
                <a:solidFill>
                  <a:srgbClr val="1A1F36"/>
                </a:solidFill>
                <a:latin typeface="Arial" pitchFamily="34" charset="0"/>
                <a:ea typeface="Arial" pitchFamily="34" charset="-122"/>
                <a:cs typeface="Arial" pitchFamily="34" charset="-120"/>
              </a:rPr>
              <a:t>Thông tin model</a:t>
            </a:r>
            <a:endParaRPr lang="en-US" sz="1300" dirty="0"/>
          </a:p>
        </p:txBody>
      </p:sp>
      <p:sp>
        <p:nvSpPr>
          <p:cNvPr id="29" name="Text 26"/>
          <p:cNvSpPr txBox="1"/>
          <p:nvPr/>
        </p:nvSpPr>
        <p:spPr>
          <a:xfrm>
            <a:off x="1024128" y="5779008"/>
            <a:ext cx="4343400" cy="457200"/>
          </a:xfrm>
          <a:prstGeom prst="rect">
            <a:avLst/>
          </a:prstGeom>
          <a:noFill/>
          <a:ln/>
        </p:spPr>
        <p:txBody>
          <a:bodyPr wrap="square" rtlCol="0" anchor="t"/>
          <a:lstStyle/>
          <a:p>
            <a:pPr marL="0" indent="0">
              <a:lnSpc>
                <a:spcPct val="120000"/>
              </a:lnSpc>
              <a:buNone/>
            </a:pPr>
            <a:r>
              <a:rPr lang="en-US" sz="1050" dirty="0">
                <a:solidFill>
                  <a:srgbClr val="6B7280"/>
                </a:solidFill>
                <a:latin typeface="Arial" pitchFamily="34" charset="0"/>
                <a:ea typeface="Arial" pitchFamily="34" charset="-122"/>
                <a:cs typeface="Arial" pitchFamily="34" charset="-120"/>
              </a:rPr>
              <a:t>Model đang dùng, điểm số, bảng so sánh thuật toán</a:t>
            </a:r>
            <a:endParaRPr lang="en-US" sz="1050" dirty="0"/>
          </a:p>
        </p:txBody>
      </p:sp>
      <p:sp>
        <p:nvSpPr>
          <p:cNvPr id="30" name="Text 27"/>
          <p:cNvSpPr txBox="1"/>
          <p:nvPr/>
        </p:nvSpPr>
        <p:spPr>
          <a:xfrm>
            <a:off x="11000232" y="6473952"/>
            <a:ext cx="914400" cy="274320"/>
          </a:xfrm>
          <a:prstGeom prst="rect">
            <a:avLst/>
          </a:prstGeom>
          <a:noFill/>
          <a:ln/>
        </p:spPr>
        <p:txBody>
          <a:bodyPr wrap="square" rtlCol="0" anchor="ctr"/>
          <a:lstStyle/>
          <a:p>
            <a:pPr marL="0" indent="0" algn="r">
              <a:buNone/>
            </a:pPr>
            <a:r>
              <a:rPr lang="en-US" sz="900" dirty="0">
                <a:solidFill>
                  <a:srgbClr val="6B7280"/>
                </a:solidFill>
                <a:latin typeface="Arial" pitchFamily="34" charset="0"/>
                <a:ea typeface="Arial" pitchFamily="34" charset="-122"/>
                <a:cs typeface="Arial" pitchFamily="34" charset="-120"/>
              </a:rPr>
              <a:t>05 / 11</a:t>
            </a:r>
            <a:endParaRPr lang="en-US" sz="900" dirty="0"/>
          </a:p>
        </p:txBody>
      </p:sp>
      <p:sp>
        <p:nvSpPr>
          <p:cNvPr id="31" name="Text 28"/>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Arial" pitchFamily="34" charset="0"/>
                <a:ea typeface="Arial" pitchFamily="34" charset="-122"/>
                <a:cs typeface="Arial" pitchFamily="34" charset="-120"/>
              </a:rPr>
              <a:t>Đồ án Python HK3 — Sàng lọc &amp; dự đoán nguy cơ tiểu đường</a:t>
            </a:r>
            <a:endParaRPr lang="en-US" sz="9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0058400" cy="274320"/>
          </a:xfrm>
          <a:prstGeom prst="rect">
            <a:avLst/>
          </a:prstGeom>
          <a:noFill/>
          <a:ln/>
        </p:spPr>
        <p:txBody>
          <a:bodyPr wrap="square" rtlCol="0" anchor="t"/>
          <a:lstStyle/>
          <a:p>
            <a:pPr marL="0" indent="0">
              <a:buNone/>
            </a:pPr>
            <a:r>
              <a:rPr lang="en-US" sz="1200" b="1" kern="0" spc="200" dirty="0">
                <a:solidFill>
                  <a:srgbClr val="0F5C57"/>
                </a:solidFill>
                <a:latin typeface="Arial" pitchFamily="34" charset="0"/>
                <a:ea typeface="Arial" pitchFamily="34" charset="-122"/>
                <a:cs typeface="Arial" pitchFamily="34" charset="-120"/>
              </a:rPr>
              <a:t>MACHINE LEARNING · MODEL 1</a:t>
            </a:r>
            <a:endParaRPr lang="en-US" sz="1200" dirty="0"/>
          </a:p>
        </p:txBody>
      </p:sp>
      <p:sp>
        <p:nvSpPr>
          <p:cNvPr id="3" name="Text 1"/>
          <p:cNvSpPr txBox="1"/>
          <p:nvPr/>
        </p:nvSpPr>
        <p:spPr>
          <a:xfrm>
            <a:off x="457200" y="566928"/>
            <a:ext cx="11247120" cy="640080"/>
          </a:xfrm>
          <a:prstGeom prst="rect">
            <a:avLst/>
          </a:prstGeom>
          <a:noFill/>
          <a:ln/>
        </p:spPr>
        <p:txBody>
          <a:bodyPr wrap="square" rtlCol="0" anchor="t"/>
          <a:lstStyle/>
          <a:p>
            <a:pPr marL="0" indent="0">
              <a:buNone/>
            </a:pPr>
            <a:r>
              <a:rPr lang="en-US" sz="2800" b="1" dirty="0">
                <a:solidFill>
                  <a:srgbClr val="1A1F36"/>
                </a:solidFill>
                <a:latin typeface="Century Schoolbook" pitchFamily="34" charset="0"/>
                <a:ea typeface="Century Schoolbook" pitchFamily="34" charset="-122"/>
                <a:cs typeface="Century Schoolbook" pitchFamily="34" charset="-120"/>
              </a:rPr>
              <a:t>Sàng lọc theo triệu chứng</a:t>
            </a:r>
            <a:endParaRPr lang="en-US" sz="2800" dirty="0"/>
          </a:p>
        </p:txBody>
      </p:sp>
      <p:sp>
        <p:nvSpPr>
          <p:cNvPr id="4" name="Shape 2"/>
          <p:cNvSpPr/>
          <p:nvPr/>
        </p:nvSpPr>
        <p:spPr>
          <a:xfrm>
            <a:off x="457200" y="1691640"/>
            <a:ext cx="2697480" cy="1417320"/>
          </a:xfrm>
          <a:prstGeom prst="roundRect">
            <a:avLst>
              <a:gd name="adj" fmla="val 5161"/>
            </a:avLst>
          </a:prstGeom>
          <a:solidFill>
            <a:srgbClr val="EAF3F1"/>
          </a:solidFill>
          <a:ln/>
          <a:effectLst>
            <a:outerShdw blurRad="76200" dist="25400" dir="5400000" algn="bl" rotWithShape="0">
              <a:srgbClr val="8FB3AC">
                <a:alpha val="35000"/>
              </a:srgbClr>
            </a:outerShdw>
          </a:effectLst>
        </p:spPr>
      </p:sp>
      <p:sp>
        <p:nvSpPr>
          <p:cNvPr id="5" name="Text 3"/>
          <p:cNvSpPr txBox="1"/>
          <p:nvPr/>
        </p:nvSpPr>
        <p:spPr>
          <a:xfrm>
            <a:off x="594360" y="1801368"/>
            <a:ext cx="2423160" cy="779526"/>
          </a:xfrm>
          <a:prstGeom prst="rect">
            <a:avLst/>
          </a:prstGeom>
          <a:noFill/>
          <a:ln/>
        </p:spPr>
        <p:txBody>
          <a:bodyPr wrap="square" rtlCol="0" anchor="b"/>
          <a:lstStyle/>
          <a:p>
            <a:pPr marL="0" indent="0" algn="l">
              <a:buNone/>
            </a:pPr>
            <a:r>
              <a:rPr lang="en-US" sz="2400" b="1" dirty="0">
                <a:solidFill>
                  <a:srgbClr val="0F5C57"/>
                </a:solidFill>
                <a:latin typeface="Century Schoolbook" pitchFamily="34" charset="0"/>
                <a:ea typeface="Century Schoolbook" pitchFamily="34" charset="-122"/>
                <a:cs typeface="Century Schoolbook" pitchFamily="34" charset="-120"/>
              </a:rPr>
              <a:t>520 → 251 dòng</a:t>
            </a:r>
            <a:endParaRPr lang="en-US" sz="2400" dirty="0"/>
          </a:p>
        </p:txBody>
      </p:sp>
      <p:sp>
        <p:nvSpPr>
          <p:cNvPr id="6" name="Text 4"/>
          <p:cNvSpPr txBox="1"/>
          <p:nvPr/>
        </p:nvSpPr>
        <p:spPr>
          <a:xfrm>
            <a:off x="594360" y="2542032"/>
            <a:ext cx="2423160" cy="538582"/>
          </a:xfrm>
          <a:prstGeom prst="rect">
            <a:avLst/>
          </a:prstGeom>
          <a:noFill/>
          <a:ln/>
        </p:spPr>
        <p:txBody>
          <a:bodyPr wrap="square" rtlCol="0" anchor="t"/>
          <a:lstStyle/>
          <a:p>
            <a:pPr marL="0" indent="0">
              <a:lnSpc>
                <a:spcPct val="115000"/>
              </a:lnSpc>
              <a:buNone/>
            </a:pPr>
            <a:r>
              <a:rPr lang="en-US" sz="1050" dirty="0">
                <a:solidFill>
                  <a:srgbClr val="6B7280"/>
                </a:solidFill>
                <a:latin typeface="Arial" pitchFamily="34" charset="0"/>
                <a:ea typeface="Arial" pitchFamily="34" charset="-122"/>
                <a:cs typeface="Arial" pitchFamily="34" charset="-120"/>
              </a:rPr>
              <a:t>diabetes_data.csv, sau khi xoá 269 dòng trùng lặp</a:t>
            </a:r>
            <a:endParaRPr lang="en-US" sz="1050" dirty="0"/>
          </a:p>
        </p:txBody>
      </p:sp>
      <p:sp>
        <p:nvSpPr>
          <p:cNvPr id="7" name="Shape 5"/>
          <p:cNvSpPr/>
          <p:nvPr/>
        </p:nvSpPr>
        <p:spPr>
          <a:xfrm>
            <a:off x="3300984" y="1691640"/>
            <a:ext cx="2697480" cy="1417320"/>
          </a:xfrm>
          <a:prstGeom prst="roundRect">
            <a:avLst>
              <a:gd name="adj" fmla="val 5161"/>
            </a:avLst>
          </a:prstGeom>
          <a:solidFill>
            <a:srgbClr val="EAF3F1"/>
          </a:solidFill>
          <a:ln/>
          <a:effectLst>
            <a:outerShdw blurRad="76200" dist="25400" dir="5400000" algn="bl" rotWithShape="0">
              <a:srgbClr val="8FB3AC">
                <a:alpha val="35000"/>
              </a:srgbClr>
            </a:outerShdw>
          </a:effectLst>
        </p:spPr>
      </p:sp>
      <p:sp>
        <p:nvSpPr>
          <p:cNvPr id="8" name="Text 6"/>
          <p:cNvSpPr txBox="1"/>
          <p:nvPr/>
        </p:nvSpPr>
        <p:spPr>
          <a:xfrm>
            <a:off x="3438144" y="1801368"/>
            <a:ext cx="2423160" cy="779526"/>
          </a:xfrm>
          <a:prstGeom prst="rect">
            <a:avLst/>
          </a:prstGeom>
          <a:noFill/>
          <a:ln/>
        </p:spPr>
        <p:txBody>
          <a:bodyPr wrap="square" rtlCol="0" anchor="b"/>
          <a:lstStyle/>
          <a:p>
            <a:pPr marL="0" indent="0" algn="l">
              <a:buNone/>
            </a:pPr>
            <a:r>
              <a:rPr lang="en-US" sz="2400" b="1" dirty="0">
                <a:solidFill>
                  <a:srgbClr val="0F5C57"/>
                </a:solidFill>
                <a:latin typeface="Century Schoolbook" pitchFamily="34" charset="0"/>
                <a:ea typeface="Century Schoolbook" pitchFamily="34" charset="-122"/>
                <a:cs typeface="Century Schoolbook" pitchFamily="34" charset="-120"/>
              </a:rPr>
              <a:t>14</a:t>
            </a:r>
            <a:endParaRPr lang="en-US" sz="2400" dirty="0"/>
          </a:p>
        </p:txBody>
      </p:sp>
      <p:sp>
        <p:nvSpPr>
          <p:cNvPr id="9" name="Text 7"/>
          <p:cNvSpPr txBox="1"/>
          <p:nvPr/>
        </p:nvSpPr>
        <p:spPr>
          <a:xfrm>
            <a:off x="3438144" y="2542032"/>
            <a:ext cx="2423160" cy="538582"/>
          </a:xfrm>
          <a:prstGeom prst="rect">
            <a:avLst/>
          </a:prstGeom>
          <a:noFill/>
          <a:ln/>
        </p:spPr>
        <p:txBody>
          <a:bodyPr wrap="square" rtlCol="0" anchor="t"/>
          <a:lstStyle/>
          <a:p>
            <a:pPr marL="0" indent="0">
              <a:lnSpc>
                <a:spcPct val="115000"/>
              </a:lnSpc>
              <a:buNone/>
            </a:pPr>
            <a:r>
              <a:rPr lang="en-US" sz="1050" dirty="0">
                <a:solidFill>
                  <a:srgbClr val="6B7280"/>
                </a:solidFill>
                <a:latin typeface="Arial" pitchFamily="34" charset="0"/>
                <a:ea typeface="Arial" pitchFamily="34" charset="-122"/>
                <a:cs typeface="Arial" pitchFamily="34" charset="-120"/>
              </a:rPr>
              <a:t>triệu chứng lâm sàng dùng làm đặc trưng đầu vào</a:t>
            </a:r>
            <a:endParaRPr lang="en-US" sz="1050" dirty="0"/>
          </a:p>
        </p:txBody>
      </p:sp>
      <p:sp>
        <p:nvSpPr>
          <p:cNvPr id="10" name="Shape 8"/>
          <p:cNvSpPr/>
          <p:nvPr/>
        </p:nvSpPr>
        <p:spPr>
          <a:xfrm>
            <a:off x="6144768" y="1691640"/>
            <a:ext cx="2697480" cy="1417320"/>
          </a:xfrm>
          <a:prstGeom prst="roundRect">
            <a:avLst>
              <a:gd name="adj" fmla="val 5161"/>
            </a:avLst>
          </a:prstGeom>
          <a:solidFill>
            <a:srgbClr val="EAF3F1"/>
          </a:solidFill>
          <a:ln/>
          <a:effectLst>
            <a:outerShdw blurRad="76200" dist="25400" dir="5400000" algn="bl" rotWithShape="0">
              <a:srgbClr val="8FB3AC">
                <a:alpha val="35000"/>
              </a:srgbClr>
            </a:outerShdw>
          </a:effectLst>
        </p:spPr>
      </p:sp>
      <p:sp>
        <p:nvSpPr>
          <p:cNvPr id="11" name="Text 9"/>
          <p:cNvSpPr txBox="1"/>
          <p:nvPr/>
        </p:nvSpPr>
        <p:spPr>
          <a:xfrm>
            <a:off x="6281928" y="1801368"/>
            <a:ext cx="2423160" cy="779526"/>
          </a:xfrm>
          <a:prstGeom prst="rect">
            <a:avLst/>
          </a:prstGeom>
          <a:noFill/>
          <a:ln/>
        </p:spPr>
        <p:txBody>
          <a:bodyPr wrap="square" rtlCol="0" anchor="b"/>
          <a:lstStyle/>
          <a:p>
            <a:pPr marL="0" indent="0" algn="l">
              <a:buNone/>
            </a:pPr>
            <a:r>
              <a:rPr lang="en-US" sz="2400" b="1" dirty="0">
                <a:solidFill>
                  <a:srgbClr val="0F5C57"/>
                </a:solidFill>
                <a:latin typeface="Century Schoolbook" pitchFamily="34" charset="0"/>
                <a:ea typeface="Century Schoolbook" pitchFamily="34" charset="-122"/>
                <a:cs typeface="Century Schoolbook" pitchFamily="34" charset="-120"/>
              </a:rPr>
              <a:t>80 / 20</a:t>
            </a:r>
            <a:endParaRPr lang="en-US" sz="2400" dirty="0"/>
          </a:p>
        </p:txBody>
      </p:sp>
      <p:sp>
        <p:nvSpPr>
          <p:cNvPr id="12" name="Text 10"/>
          <p:cNvSpPr txBox="1"/>
          <p:nvPr/>
        </p:nvSpPr>
        <p:spPr>
          <a:xfrm>
            <a:off x="6281928" y="2542032"/>
            <a:ext cx="2423160" cy="538582"/>
          </a:xfrm>
          <a:prstGeom prst="rect">
            <a:avLst/>
          </a:prstGeom>
          <a:noFill/>
          <a:ln/>
        </p:spPr>
        <p:txBody>
          <a:bodyPr wrap="square" rtlCol="0" anchor="t"/>
          <a:lstStyle/>
          <a:p>
            <a:pPr marL="0" indent="0">
              <a:lnSpc>
                <a:spcPct val="115000"/>
              </a:lnSpc>
              <a:buNone/>
            </a:pPr>
            <a:r>
              <a:rPr lang="en-US" sz="1050" dirty="0">
                <a:solidFill>
                  <a:srgbClr val="6B7280"/>
                </a:solidFill>
                <a:latin typeface="Arial" pitchFamily="34" charset="0"/>
                <a:ea typeface="Arial" pitchFamily="34" charset="-122"/>
                <a:cs typeface="Arial" pitchFamily="34" charset="-120"/>
              </a:rPr>
              <a:t>tỷ lệ chia tập huấn luyện / kiểm tra, có stratify</a:t>
            </a:r>
            <a:endParaRPr lang="en-US" sz="1050" dirty="0"/>
          </a:p>
        </p:txBody>
      </p:sp>
      <p:sp>
        <p:nvSpPr>
          <p:cNvPr id="13" name="Shape 11"/>
          <p:cNvSpPr/>
          <p:nvPr/>
        </p:nvSpPr>
        <p:spPr>
          <a:xfrm>
            <a:off x="8988552" y="1691640"/>
            <a:ext cx="2697480" cy="1417320"/>
          </a:xfrm>
          <a:prstGeom prst="roundRect">
            <a:avLst>
              <a:gd name="adj" fmla="val 5161"/>
            </a:avLst>
          </a:prstGeom>
          <a:solidFill>
            <a:srgbClr val="EAF3F1"/>
          </a:solidFill>
          <a:ln/>
          <a:effectLst>
            <a:outerShdw blurRad="76200" dist="25400" dir="5400000" algn="bl" rotWithShape="0">
              <a:srgbClr val="8FB3AC">
                <a:alpha val="35000"/>
              </a:srgbClr>
            </a:outerShdw>
          </a:effectLst>
        </p:spPr>
      </p:sp>
      <p:sp>
        <p:nvSpPr>
          <p:cNvPr id="14" name="Text 12"/>
          <p:cNvSpPr txBox="1"/>
          <p:nvPr/>
        </p:nvSpPr>
        <p:spPr>
          <a:xfrm>
            <a:off x="9125712" y="1801368"/>
            <a:ext cx="2423160" cy="779526"/>
          </a:xfrm>
          <a:prstGeom prst="rect">
            <a:avLst/>
          </a:prstGeom>
          <a:noFill/>
          <a:ln/>
        </p:spPr>
        <p:txBody>
          <a:bodyPr wrap="square" rtlCol="0" anchor="b"/>
          <a:lstStyle/>
          <a:p>
            <a:pPr marL="0" indent="0" algn="l">
              <a:buNone/>
            </a:pPr>
            <a:r>
              <a:rPr lang="en-US" sz="2400" b="1" dirty="0">
                <a:solidFill>
                  <a:srgbClr val="FF8A3D"/>
                </a:solidFill>
                <a:latin typeface="Century Schoolbook" pitchFamily="34" charset="0"/>
                <a:ea typeface="Century Schoolbook" pitchFamily="34" charset="-122"/>
                <a:cs typeface="Century Schoolbook" pitchFamily="34" charset="-120"/>
              </a:rPr>
              <a:t>SVC · 92.16%</a:t>
            </a:r>
            <a:endParaRPr lang="en-US" sz="2400" dirty="0"/>
          </a:p>
        </p:txBody>
      </p:sp>
      <p:sp>
        <p:nvSpPr>
          <p:cNvPr id="15" name="Text 13"/>
          <p:cNvSpPr txBox="1"/>
          <p:nvPr/>
        </p:nvSpPr>
        <p:spPr>
          <a:xfrm>
            <a:off x="9125712" y="2542032"/>
            <a:ext cx="2423160" cy="538582"/>
          </a:xfrm>
          <a:prstGeom prst="rect">
            <a:avLst/>
          </a:prstGeom>
          <a:noFill/>
          <a:ln/>
        </p:spPr>
        <p:txBody>
          <a:bodyPr wrap="square" rtlCol="0" anchor="t"/>
          <a:lstStyle/>
          <a:p>
            <a:pPr marL="0" indent="0">
              <a:lnSpc>
                <a:spcPct val="115000"/>
              </a:lnSpc>
              <a:buNone/>
            </a:pPr>
            <a:r>
              <a:rPr lang="en-US" sz="1050" dirty="0">
                <a:solidFill>
                  <a:srgbClr val="6B7280"/>
                </a:solidFill>
                <a:latin typeface="Arial" pitchFamily="34" charset="0"/>
                <a:ea typeface="Arial" pitchFamily="34" charset="-122"/>
                <a:cs typeface="Arial" pitchFamily="34" charset="-120"/>
              </a:rPr>
              <a:t>thuật toán được chọn, theo Accuracy trên tập kiểm tra</a:t>
            </a:r>
            <a:endParaRPr lang="en-US" sz="1050" dirty="0"/>
          </a:p>
        </p:txBody>
      </p:sp>
      <p:sp>
        <p:nvSpPr>
          <p:cNvPr id="16" name="Shape 14"/>
          <p:cNvSpPr/>
          <p:nvPr/>
        </p:nvSpPr>
        <p:spPr>
          <a:xfrm>
            <a:off x="457200" y="3383280"/>
            <a:ext cx="11274552" cy="2788920"/>
          </a:xfrm>
          <a:prstGeom prst="roundRect">
            <a:avLst>
              <a:gd name="adj" fmla="val 2951"/>
            </a:avLst>
          </a:prstGeom>
          <a:solidFill>
            <a:srgbClr val="EAF3F1"/>
          </a:solidFill>
          <a:ln/>
          <a:effectLst>
            <a:outerShdw blurRad="63500" dist="25400" dir="5400000" algn="bl" rotWithShape="0">
              <a:srgbClr val="8FB3AC">
                <a:alpha val="30000"/>
              </a:srgbClr>
            </a:outerShdw>
          </a:effectLst>
        </p:spPr>
      </p:sp>
      <p:sp>
        <p:nvSpPr>
          <p:cNvPr id="17" name="Text 15"/>
          <p:cNvSpPr txBox="1"/>
          <p:nvPr/>
        </p:nvSpPr>
        <p:spPr>
          <a:xfrm>
            <a:off x="777240" y="3611880"/>
            <a:ext cx="7315200" cy="320040"/>
          </a:xfrm>
          <a:prstGeom prst="rect">
            <a:avLst/>
          </a:prstGeom>
          <a:noFill/>
          <a:ln/>
        </p:spPr>
        <p:txBody>
          <a:bodyPr wrap="square" rtlCol="0" anchor="ctr"/>
          <a:lstStyle/>
          <a:p>
            <a:pPr marL="0" indent="0">
              <a:buNone/>
            </a:pPr>
            <a:r>
              <a:rPr lang="en-US" sz="1250" b="1" kern="0" spc="150" dirty="0">
                <a:solidFill>
                  <a:srgbClr val="0F5C57"/>
                </a:solidFill>
                <a:latin typeface="Arial" pitchFamily="34" charset="0"/>
                <a:ea typeface="Arial" pitchFamily="34" charset="-122"/>
                <a:cs typeface="Arial" pitchFamily="34" charset="-120"/>
              </a:rPr>
              <a:t>QUY TRÌNH XỬ LÝ &amp; HUẤN LUYỆN</a:t>
            </a:r>
            <a:endParaRPr lang="en-US" sz="1250" dirty="0"/>
          </a:p>
        </p:txBody>
      </p:sp>
      <p:sp>
        <p:nvSpPr>
          <p:cNvPr id="18" name="Shape 16"/>
          <p:cNvSpPr/>
          <p:nvPr/>
        </p:nvSpPr>
        <p:spPr>
          <a:xfrm>
            <a:off x="777240" y="4114800"/>
            <a:ext cx="347472" cy="347472"/>
          </a:xfrm>
          <a:prstGeom prst="ellipse">
            <a:avLst/>
          </a:prstGeom>
          <a:solidFill>
            <a:srgbClr val="FFFFFF"/>
          </a:solidFill>
          <a:ln/>
        </p:spPr>
      </p:sp>
      <p:sp>
        <p:nvSpPr>
          <p:cNvPr id="19" name="Text 17"/>
          <p:cNvSpPr txBox="1"/>
          <p:nvPr/>
        </p:nvSpPr>
        <p:spPr>
          <a:xfrm>
            <a:off x="777240" y="4114800"/>
            <a:ext cx="347472" cy="347472"/>
          </a:xfrm>
          <a:prstGeom prst="rect">
            <a:avLst/>
          </a:prstGeom>
          <a:noFill/>
          <a:ln/>
        </p:spPr>
        <p:txBody>
          <a:bodyPr wrap="square" lIns="0" tIns="0" rIns="0" bIns="0" rtlCol="0" anchor="ctr"/>
          <a:lstStyle/>
          <a:p>
            <a:pPr marL="0" indent="0" algn="ctr">
              <a:buNone/>
            </a:pPr>
            <a:r>
              <a:rPr lang="en-US" sz="1200" b="1" dirty="0">
                <a:solidFill>
                  <a:srgbClr val="0F5C57"/>
                </a:solidFill>
                <a:latin typeface="Arial" pitchFamily="34" charset="0"/>
                <a:ea typeface="Arial" pitchFamily="34" charset="-122"/>
                <a:cs typeface="Arial" pitchFamily="34" charset="-120"/>
              </a:rPr>
              <a:t>1</a:t>
            </a:r>
            <a:endParaRPr lang="en-US" sz="1200" dirty="0"/>
          </a:p>
        </p:txBody>
      </p:sp>
      <p:sp>
        <p:nvSpPr>
          <p:cNvPr id="20" name="Text 18"/>
          <p:cNvSpPr txBox="1"/>
          <p:nvPr/>
        </p:nvSpPr>
        <p:spPr>
          <a:xfrm>
            <a:off x="1280160" y="4059936"/>
            <a:ext cx="10149840" cy="566928"/>
          </a:xfrm>
          <a:prstGeom prst="rect">
            <a:avLst/>
          </a:prstGeom>
          <a:noFill/>
          <a:ln/>
        </p:spPr>
        <p:txBody>
          <a:bodyPr wrap="square" rtlCol="0" anchor="ctr"/>
          <a:lstStyle/>
          <a:p>
            <a:pPr marL="0" indent="0">
              <a:lnSpc>
                <a:spcPct val="120000"/>
              </a:lnSpc>
              <a:buNone/>
            </a:pPr>
            <a:r>
              <a:rPr lang="en-US" sz="1250" dirty="0">
                <a:solidFill>
                  <a:srgbClr val="1A1F36"/>
                </a:solidFill>
                <a:latin typeface="Arial" pitchFamily="34" charset="0"/>
                <a:ea typeface="Arial" pitchFamily="34" charset="-122"/>
                <a:cs typeface="Arial" pitchFamily="34" charset="-120"/>
              </a:rPr>
              <a:t>Xoá 269 dòng trùng lặp, chiếm hơn 50% dữ liệu gốc, tránh model học tủ</a:t>
            </a:r>
            <a:endParaRPr lang="en-US" sz="1250" dirty="0"/>
          </a:p>
        </p:txBody>
      </p:sp>
      <p:sp>
        <p:nvSpPr>
          <p:cNvPr id="21" name="Shape 19"/>
          <p:cNvSpPr/>
          <p:nvPr/>
        </p:nvSpPr>
        <p:spPr>
          <a:xfrm>
            <a:off x="777240" y="4681728"/>
            <a:ext cx="347472" cy="347472"/>
          </a:xfrm>
          <a:prstGeom prst="ellipse">
            <a:avLst/>
          </a:prstGeom>
          <a:solidFill>
            <a:srgbClr val="FFFFFF"/>
          </a:solidFill>
          <a:ln/>
        </p:spPr>
      </p:sp>
      <p:sp>
        <p:nvSpPr>
          <p:cNvPr id="22" name="Text 20"/>
          <p:cNvSpPr txBox="1"/>
          <p:nvPr/>
        </p:nvSpPr>
        <p:spPr>
          <a:xfrm>
            <a:off x="777240" y="4681728"/>
            <a:ext cx="347472" cy="347472"/>
          </a:xfrm>
          <a:prstGeom prst="rect">
            <a:avLst/>
          </a:prstGeom>
          <a:noFill/>
          <a:ln/>
        </p:spPr>
        <p:txBody>
          <a:bodyPr wrap="square" lIns="0" tIns="0" rIns="0" bIns="0" rtlCol="0" anchor="ctr"/>
          <a:lstStyle/>
          <a:p>
            <a:pPr marL="0" indent="0" algn="ctr">
              <a:buNone/>
            </a:pPr>
            <a:r>
              <a:rPr lang="en-US" sz="1200" b="1" dirty="0">
                <a:solidFill>
                  <a:srgbClr val="0F5C57"/>
                </a:solidFill>
                <a:latin typeface="Arial" pitchFamily="34" charset="0"/>
                <a:ea typeface="Arial" pitchFamily="34" charset="-122"/>
                <a:cs typeface="Arial" pitchFamily="34" charset="-120"/>
              </a:rPr>
              <a:t>2</a:t>
            </a:r>
            <a:endParaRPr lang="en-US" sz="1200" dirty="0"/>
          </a:p>
        </p:txBody>
      </p:sp>
      <p:sp>
        <p:nvSpPr>
          <p:cNvPr id="23" name="Text 21"/>
          <p:cNvSpPr txBox="1"/>
          <p:nvPr/>
        </p:nvSpPr>
        <p:spPr>
          <a:xfrm>
            <a:off x="1280160" y="4626864"/>
            <a:ext cx="10149840" cy="566928"/>
          </a:xfrm>
          <a:prstGeom prst="rect">
            <a:avLst/>
          </a:prstGeom>
          <a:noFill/>
          <a:ln/>
        </p:spPr>
        <p:txBody>
          <a:bodyPr wrap="square" rtlCol="0" anchor="ctr"/>
          <a:lstStyle/>
          <a:p>
            <a:pPr marL="0" indent="0">
              <a:lnSpc>
                <a:spcPct val="120000"/>
              </a:lnSpc>
              <a:buNone/>
            </a:pPr>
            <a:r>
              <a:rPr lang="en-US" sz="1250" dirty="0">
                <a:solidFill>
                  <a:srgbClr val="1A1F36"/>
                </a:solidFill>
                <a:latin typeface="Arial" pitchFamily="34" charset="0"/>
                <a:ea typeface="Arial" pitchFamily="34" charset="-122"/>
                <a:cs typeface="Arial" pitchFamily="34" charset="-120"/>
              </a:rPr>
              <a:t>Chia 80% huấn luyện / 20% </a:t>
            </a:r>
            <a:r>
              <a:rPr lang="en-US" sz="1250" dirty="0" err="1">
                <a:solidFill>
                  <a:srgbClr val="1A1F36"/>
                </a:solidFill>
                <a:latin typeface="Arial" pitchFamily="34" charset="0"/>
                <a:ea typeface="Arial" pitchFamily="34" charset="-122"/>
                <a:cs typeface="Arial" pitchFamily="34" charset="-120"/>
              </a:rPr>
              <a:t>kiểm</a:t>
            </a:r>
            <a:r>
              <a:rPr lang="en-US" sz="1250" dirty="0">
                <a:solidFill>
                  <a:srgbClr val="1A1F36"/>
                </a:solidFill>
                <a:latin typeface="Arial" pitchFamily="34" charset="0"/>
                <a:ea typeface="Arial" pitchFamily="34" charset="-122"/>
                <a:cs typeface="Arial" pitchFamily="34" charset="-120"/>
              </a:rPr>
              <a:t> </a:t>
            </a:r>
            <a:r>
              <a:rPr lang="en-US" sz="1250" dirty="0" err="1" smtClean="0">
                <a:solidFill>
                  <a:srgbClr val="1A1F36"/>
                </a:solidFill>
                <a:latin typeface="Arial" pitchFamily="34" charset="0"/>
                <a:ea typeface="Arial" pitchFamily="34" charset="-122"/>
                <a:cs typeface="Arial" pitchFamily="34" charset="-120"/>
              </a:rPr>
              <a:t>tra</a:t>
            </a:r>
            <a:endParaRPr lang="en-US" sz="1250" dirty="0"/>
          </a:p>
        </p:txBody>
      </p:sp>
      <p:sp>
        <p:nvSpPr>
          <p:cNvPr id="24" name="Shape 22"/>
          <p:cNvSpPr/>
          <p:nvPr/>
        </p:nvSpPr>
        <p:spPr>
          <a:xfrm>
            <a:off x="777240" y="5248656"/>
            <a:ext cx="347472" cy="347472"/>
          </a:xfrm>
          <a:prstGeom prst="ellipse">
            <a:avLst/>
          </a:prstGeom>
          <a:solidFill>
            <a:srgbClr val="FFFFFF"/>
          </a:solidFill>
          <a:ln/>
        </p:spPr>
      </p:sp>
      <p:sp>
        <p:nvSpPr>
          <p:cNvPr id="25" name="Text 23"/>
          <p:cNvSpPr txBox="1"/>
          <p:nvPr/>
        </p:nvSpPr>
        <p:spPr>
          <a:xfrm>
            <a:off x="777240" y="5248656"/>
            <a:ext cx="347472" cy="347472"/>
          </a:xfrm>
          <a:prstGeom prst="rect">
            <a:avLst/>
          </a:prstGeom>
          <a:noFill/>
          <a:ln/>
        </p:spPr>
        <p:txBody>
          <a:bodyPr wrap="square" lIns="0" tIns="0" rIns="0" bIns="0" rtlCol="0" anchor="ctr"/>
          <a:lstStyle/>
          <a:p>
            <a:pPr marL="0" indent="0" algn="ctr">
              <a:buNone/>
            </a:pPr>
            <a:r>
              <a:rPr lang="en-US" sz="1200" b="1" dirty="0">
                <a:solidFill>
                  <a:srgbClr val="0F5C57"/>
                </a:solidFill>
                <a:latin typeface="Arial" pitchFamily="34" charset="0"/>
                <a:ea typeface="Arial" pitchFamily="34" charset="-122"/>
                <a:cs typeface="Arial" pitchFamily="34" charset="-120"/>
              </a:rPr>
              <a:t>3</a:t>
            </a:r>
            <a:endParaRPr lang="en-US" sz="1200" dirty="0"/>
          </a:p>
        </p:txBody>
      </p:sp>
      <p:sp>
        <p:nvSpPr>
          <p:cNvPr id="26" name="Text 24"/>
          <p:cNvSpPr txBox="1"/>
          <p:nvPr/>
        </p:nvSpPr>
        <p:spPr>
          <a:xfrm>
            <a:off x="1280160" y="5193792"/>
            <a:ext cx="10149840" cy="566928"/>
          </a:xfrm>
          <a:prstGeom prst="rect">
            <a:avLst/>
          </a:prstGeom>
          <a:noFill/>
          <a:ln/>
        </p:spPr>
        <p:txBody>
          <a:bodyPr wrap="square" rtlCol="0" anchor="ctr"/>
          <a:lstStyle/>
          <a:p>
            <a:pPr marL="0" indent="0">
              <a:lnSpc>
                <a:spcPct val="120000"/>
              </a:lnSpc>
              <a:buNone/>
            </a:pPr>
            <a:r>
              <a:rPr lang="en-US" sz="1250" dirty="0">
                <a:solidFill>
                  <a:srgbClr val="1A1F36"/>
                </a:solidFill>
                <a:latin typeface="Arial" pitchFamily="34" charset="0"/>
                <a:ea typeface="Arial" pitchFamily="34" charset="-122"/>
                <a:cs typeface="Arial" pitchFamily="34" charset="-120"/>
              </a:rPr>
              <a:t>Chuẩn hoá cột tuổi, đổi các cột Yes/No sang dạng số 0/1</a:t>
            </a:r>
            <a:endParaRPr lang="en-US" sz="1250" dirty="0"/>
          </a:p>
        </p:txBody>
      </p:sp>
      <p:sp>
        <p:nvSpPr>
          <p:cNvPr id="27" name="Shape 25"/>
          <p:cNvSpPr/>
          <p:nvPr/>
        </p:nvSpPr>
        <p:spPr>
          <a:xfrm>
            <a:off x="777240" y="5815584"/>
            <a:ext cx="347472" cy="347472"/>
          </a:xfrm>
          <a:prstGeom prst="ellipse">
            <a:avLst/>
          </a:prstGeom>
          <a:solidFill>
            <a:srgbClr val="FFFFFF"/>
          </a:solidFill>
          <a:ln/>
        </p:spPr>
      </p:sp>
      <p:sp>
        <p:nvSpPr>
          <p:cNvPr id="28" name="Text 26"/>
          <p:cNvSpPr txBox="1"/>
          <p:nvPr/>
        </p:nvSpPr>
        <p:spPr>
          <a:xfrm>
            <a:off x="777240" y="5815584"/>
            <a:ext cx="347472" cy="347472"/>
          </a:xfrm>
          <a:prstGeom prst="rect">
            <a:avLst/>
          </a:prstGeom>
          <a:noFill/>
          <a:ln/>
        </p:spPr>
        <p:txBody>
          <a:bodyPr wrap="square" lIns="0" tIns="0" rIns="0" bIns="0" rtlCol="0" anchor="ctr"/>
          <a:lstStyle/>
          <a:p>
            <a:pPr marL="0" indent="0" algn="ctr">
              <a:buNone/>
            </a:pPr>
            <a:r>
              <a:rPr lang="en-US" sz="1200" b="1" dirty="0">
                <a:solidFill>
                  <a:srgbClr val="0F5C57"/>
                </a:solidFill>
                <a:latin typeface="Arial" pitchFamily="34" charset="0"/>
                <a:ea typeface="Arial" pitchFamily="34" charset="-122"/>
                <a:cs typeface="Arial" pitchFamily="34" charset="-120"/>
              </a:rPr>
              <a:t>4</a:t>
            </a:r>
            <a:endParaRPr lang="en-US" sz="1200" dirty="0"/>
          </a:p>
        </p:txBody>
      </p:sp>
      <p:sp>
        <p:nvSpPr>
          <p:cNvPr id="29" name="Text 27"/>
          <p:cNvSpPr txBox="1"/>
          <p:nvPr/>
        </p:nvSpPr>
        <p:spPr>
          <a:xfrm>
            <a:off x="1280160" y="5760720"/>
            <a:ext cx="10149840" cy="566928"/>
          </a:xfrm>
          <a:prstGeom prst="rect">
            <a:avLst/>
          </a:prstGeom>
          <a:noFill/>
          <a:ln/>
        </p:spPr>
        <p:txBody>
          <a:bodyPr wrap="square" rtlCol="0" anchor="ctr"/>
          <a:lstStyle/>
          <a:p>
            <a:pPr marL="0" indent="0">
              <a:lnSpc>
                <a:spcPct val="120000"/>
              </a:lnSpc>
              <a:buNone/>
            </a:pPr>
            <a:r>
              <a:rPr lang="en-US" sz="1250" dirty="0">
                <a:solidFill>
                  <a:srgbClr val="1A1F36"/>
                </a:solidFill>
                <a:latin typeface="Arial" pitchFamily="34" charset="0"/>
                <a:ea typeface="Arial" pitchFamily="34" charset="-122"/>
                <a:cs typeface="Arial" pitchFamily="34" charset="-120"/>
              </a:rPr>
              <a:t>So sánh 4 thuật toán (SVC, RandomForest, LogisticRegression, KNN), chọn theo F1 </a:t>
            </a:r>
            <a:r>
              <a:rPr lang="en-US" sz="1250" dirty="0" err="1">
                <a:solidFill>
                  <a:srgbClr val="1A1F36"/>
                </a:solidFill>
                <a:latin typeface="Arial" pitchFamily="34" charset="0"/>
                <a:ea typeface="Arial" pitchFamily="34" charset="-122"/>
                <a:cs typeface="Arial" pitchFamily="34" charset="-120"/>
              </a:rPr>
              <a:t>cao</a:t>
            </a:r>
            <a:r>
              <a:rPr lang="en-US" sz="1250" dirty="0">
                <a:solidFill>
                  <a:srgbClr val="1A1F36"/>
                </a:solidFill>
                <a:latin typeface="Arial" pitchFamily="34" charset="0"/>
                <a:ea typeface="Arial" pitchFamily="34" charset="-122"/>
                <a:cs typeface="Arial" pitchFamily="34" charset="-120"/>
              </a:rPr>
              <a:t> </a:t>
            </a:r>
            <a:r>
              <a:rPr lang="en-US" sz="1250" dirty="0" err="1" smtClean="0">
                <a:solidFill>
                  <a:srgbClr val="1A1F36"/>
                </a:solidFill>
                <a:latin typeface="Arial" pitchFamily="34" charset="0"/>
                <a:ea typeface="Arial" pitchFamily="34" charset="-122"/>
                <a:cs typeface="Arial" pitchFamily="34" charset="-120"/>
              </a:rPr>
              <a:t>nhất</a:t>
            </a:r>
            <a:endParaRPr lang="en-US" sz="1250" dirty="0"/>
          </a:p>
        </p:txBody>
      </p:sp>
      <p:sp>
        <p:nvSpPr>
          <p:cNvPr id="30" name="Text 28"/>
          <p:cNvSpPr txBox="1"/>
          <p:nvPr/>
        </p:nvSpPr>
        <p:spPr>
          <a:xfrm>
            <a:off x="11000232" y="6473952"/>
            <a:ext cx="914400" cy="274320"/>
          </a:xfrm>
          <a:prstGeom prst="rect">
            <a:avLst/>
          </a:prstGeom>
          <a:noFill/>
          <a:ln/>
        </p:spPr>
        <p:txBody>
          <a:bodyPr wrap="square" rtlCol="0" anchor="ctr"/>
          <a:lstStyle/>
          <a:p>
            <a:pPr marL="0" indent="0" algn="r">
              <a:buNone/>
            </a:pPr>
            <a:r>
              <a:rPr lang="en-US" sz="900" dirty="0">
                <a:solidFill>
                  <a:srgbClr val="6B7280"/>
                </a:solidFill>
                <a:latin typeface="Arial" pitchFamily="34" charset="0"/>
                <a:ea typeface="Arial" pitchFamily="34" charset="-122"/>
                <a:cs typeface="Arial" pitchFamily="34" charset="-120"/>
              </a:rPr>
              <a:t>06 / 11</a:t>
            </a:r>
            <a:endParaRPr lang="en-US" sz="900" dirty="0"/>
          </a:p>
        </p:txBody>
      </p:sp>
      <p:sp>
        <p:nvSpPr>
          <p:cNvPr id="31" name="Text 29"/>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Arial" pitchFamily="34" charset="0"/>
                <a:ea typeface="Arial" pitchFamily="34" charset="-122"/>
                <a:cs typeface="Arial" pitchFamily="34" charset="-120"/>
              </a:rPr>
              <a:t>Đồ án Python HK3 — Sàng lọc &amp; dự đoán nguy cơ tiểu đường</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0058400" cy="274320"/>
          </a:xfrm>
          <a:prstGeom prst="rect">
            <a:avLst/>
          </a:prstGeom>
          <a:noFill/>
          <a:ln/>
        </p:spPr>
        <p:txBody>
          <a:bodyPr wrap="square" rtlCol="0" anchor="t"/>
          <a:lstStyle/>
          <a:p>
            <a:pPr marL="0" indent="0">
              <a:buNone/>
            </a:pPr>
            <a:r>
              <a:rPr lang="en-US" sz="1200" b="1" kern="0" spc="200" dirty="0">
                <a:solidFill>
                  <a:srgbClr val="0F5C57"/>
                </a:solidFill>
                <a:latin typeface="Arial" pitchFamily="34" charset="0"/>
                <a:ea typeface="Arial" pitchFamily="34" charset="-122"/>
                <a:cs typeface="Arial" pitchFamily="34" charset="-120"/>
              </a:rPr>
              <a:t>MACHINE LEARNING · MODEL 2</a:t>
            </a:r>
            <a:endParaRPr lang="en-US" sz="1200" dirty="0"/>
          </a:p>
        </p:txBody>
      </p:sp>
      <p:sp>
        <p:nvSpPr>
          <p:cNvPr id="3" name="Text 1"/>
          <p:cNvSpPr txBox="1"/>
          <p:nvPr/>
        </p:nvSpPr>
        <p:spPr>
          <a:xfrm>
            <a:off x="457200" y="566928"/>
            <a:ext cx="11247120" cy="640080"/>
          </a:xfrm>
          <a:prstGeom prst="rect">
            <a:avLst/>
          </a:prstGeom>
          <a:noFill/>
          <a:ln/>
        </p:spPr>
        <p:txBody>
          <a:bodyPr wrap="square" rtlCol="0" anchor="t"/>
          <a:lstStyle/>
          <a:p>
            <a:pPr marL="0" indent="0">
              <a:buNone/>
            </a:pPr>
            <a:r>
              <a:rPr lang="en-US" sz="2800" b="1" dirty="0">
                <a:solidFill>
                  <a:srgbClr val="1A1F36"/>
                </a:solidFill>
                <a:latin typeface="Century Schoolbook" pitchFamily="34" charset="0"/>
                <a:ea typeface="Century Schoolbook" pitchFamily="34" charset="-122"/>
                <a:cs typeface="Century Schoolbook" pitchFamily="34" charset="-120"/>
              </a:rPr>
              <a:t>Đánh giá theo chỉ số lâm sàng</a:t>
            </a:r>
            <a:endParaRPr lang="en-US" sz="2800" dirty="0"/>
          </a:p>
        </p:txBody>
      </p:sp>
      <p:sp>
        <p:nvSpPr>
          <p:cNvPr id="4" name="Shape 2"/>
          <p:cNvSpPr/>
          <p:nvPr/>
        </p:nvSpPr>
        <p:spPr>
          <a:xfrm>
            <a:off x="457200" y="1691640"/>
            <a:ext cx="2697480" cy="1417320"/>
          </a:xfrm>
          <a:prstGeom prst="roundRect">
            <a:avLst>
              <a:gd name="adj" fmla="val 5161"/>
            </a:avLst>
          </a:prstGeom>
          <a:solidFill>
            <a:srgbClr val="EAF3F1"/>
          </a:solidFill>
          <a:ln/>
          <a:effectLst>
            <a:outerShdw blurRad="76200" dist="25400" dir="5400000" algn="bl" rotWithShape="0">
              <a:srgbClr val="8FB3AC">
                <a:alpha val="35000"/>
              </a:srgbClr>
            </a:outerShdw>
          </a:effectLst>
        </p:spPr>
      </p:sp>
      <p:sp>
        <p:nvSpPr>
          <p:cNvPr id="5" name="Text 3"/>
          <p:cNvSpPr txBox="1"/>
          <p:nvPr/>
        </p:nvSpPr>
        <p:spPr>
          <a:xfrm>
            <a:off x="594360" y="1801368"/>
            <a:ext cx="2423160" cy="779526"/>
          </a:xfrm>
          <a:prstGeom prst="rect">
            <a:avLst/>
          </a:prstGeom>
          <a:noFill/>
          <a:ln/>
        </p:spPr>
        <p:txBody>
          <a:bodyPr wrap="square" rtlCol="0" anchor="b"/>
          <a:lstStyle/>
          <a:p>
            <a:pPr marL="0" indent="0" algn="l">
              <a:buNone/>
            </a:pPr>
            <a:r>
              <a:rPr lang="en-US" sz="2400" b="1" dirty="0">
                <a:solidFill>
                  <a:srgbClr val="1C7293"/>
                </a:solidFill>
                <a:latin typeface="Century Schoolbook" pitchFamily="34" charset="0"/>
                <a:ea typeface="Century Schoolbook" pitchFamily="34" charset="-122"/>
                <a:cs typeface="Century Schoolbook" pitchFamily="34" charset="-120"/>
              </a:rPr>
              <a:t>768</a:t>
            </a:r>
            <a:endParaRPr lang="en-US" sz="2400" dirty="0"/>
          </a:p>
        </p:txBody>
      </p:sp>
      <p:sp>
        <p:nvSpPr>
          <p:cNvPr id="6" name="Text 4"/>
          <p:cNvSpPr txBox="1"/>
          <p:nvPr/>
        </p:nvSpPr>
        <p:spPr>
          <a:xfrm>
            <a:off x="594360" y="2542032"/>
            <a:ext cx="2423160" cy="538582"/>
          </a:xfrm>
          <a:prstGeom prst="rect">
            <a:avLst/>
          </a:prstGeom>
          <a:noFill/>
          <a:ln/>
        </p:spPr>
        <p:txBody>
          <a:bodyPr wrap="square" rtlCol="0" anchor="t"/>
          <a:lstStyle/>
          <a:p>
            <a:pPr marL="0" indent="0">
              <a:lnSpc>
                <a:spcPct val="115000"/>
              </a:lnSpc>
              <a:buNone/>
            </a:pPr>
            <a:r>
              <a:rPr lang="en-US" sz="1050" dirty="0">
                <a:solidFill>
                  <a:srgbClr val="6B7280"/>
                </a:solidFill>
                <a:latin typeface="Arial" pitchFamily="34" charset="0"/>
                <a:ea typeface="Arial" pitchFamily="34" charset="-122"/>
                <a:cs typeface="Arial" pitchFamily="34" charset="-120"/>
              </a:rPr>
              <a:t>dòng dữ liệu, bộ Pima Indians Diabetes (diabetes.csv)</a:t>
            </a:r>
            <a:endParaRPr lang="en-US" sz="1050" dirty="0"/>
          </a:p>
        </p:txBody>
      </p:sp>
      <p:sp>
        <p:nvSpPr>
          <p:cNvPr id="7" name="Shape 5"/>
          <p:cNvSpPr/>
          <p:nvPr/>
        </p:nvSpPr>
        <p:spPr>
          <a:xfrm>
            <a:off x="3300984" y="1691640"/>
            <a:ext cx="2697480" cy="1417320"/>
          </a:xfrm>
          <a:prstGeom prst="roundRect">
            <a:avLst>
              <a:gd name="adj" fmla="val 5161"/>
            </a:avLst>
          </a:prstGeom>
          <a:solidFill>
            <a:srgbClr val="EAF3F1"/>
          </a:solidFill>
          <a:ln/>
          <a:effectLst>
            <a:outerShdw blurRad="76200" dist="25400" dir="5400000" algn="bl" rotWithShape="0">
              <a:srgbClr val="8FB3AC">
                <a:alpha val="35000"/>
              </a:srgbClr>
            </a:outerShdw>
          </a:effectLst>
        </p:spPr>
      </p:sp>
      <p:sp>
        <p:nvSpPr>
          <p:cNvPr id="8" name="Text 6"/>
          <p:cNvSpPr txBox="1"/>
          <p:nvPr/>
        </p:nvSpPr>
        <p:spPr>
          <a:xfrm>
            <a:off x="3438144" y="1801368"/>
            <a:ext cx="2423160" cy="779526"/>
          </a:xfrm>
          <a:prstGeom prst="rect">
            <a:avLst/>
          </a:prstGeom>
          <a:noFill/>
          <a:ln/>
        </p:spPr>
        <p:txBody>
          <a:bodyPr wrap="square" rtlCol="0" anchor="b"/>
          <a:lstStyle/>
          <a:p>
            <a:pPr marL="0" indent="0" algn="l">
              <a:buNone/>
            </a:pPr>
            <a:r>
              <a:rPr lang="en-US" sz="2400" b="1" dirty="0">
                <a:solidFill>
                  <a:srgbClr val="1C7293"/>
                </a:solidFill>
                <a:latin typeface="Century Schoolbook" pitchFamily="34" charset="0"/>
                <a:ea typeface="Century Schoolbook" pitchFamily="34" charset="-122"/>
                <a:cs typeface="Century Schoolbook" pitchFamily="34" charset="-120"/>
              </a:rPr>
              <a:t>7</a:t>
            </a:r>
            <a:endParaRPr lang="en-US" sz="2400" dirty="0"/>
          </a:p>
        </p:txBody>
      </p:sp>
      <p:sp>
        <p:nvSpPr>
          <p:cNvPr id="9" name="Text 7"/>
          <p:cNvSpPr txBox="1"/>
          <p:nvPr/>
        </p:nvSpPr>
        <p:spPr>
          <a:xfrm>
            <a:off x="3438144" y="2542032"/>
            <a:ext cx="2423160" cy="538582"/>
          </a:xfrm>
          <a:prstGeom prst="rect">
            <a:avLst/>
          </a:prstGeom>
          <a:noFill/>
          <a:ln/>
        </p:spPr>
        <p:txBody>
          <a:bodyPr wrap="square" rtlCol="0" anchor="t"/>
          <a:lstStyle/>
          <a:p>
            <a:pPr marL="0" indent="0">
              <a:lnSpc>
                <a:spcPct val="115000"/>
              </a:lnSpc>
              <a:buNone/>
            </a:pPr>
            <a:r>
              <a:rPr lang="en-US" sz="1050" dirty="0">
                <a:solidFill>
                  <a:srgbClr val="6B7280"/>
                </a:solidFill>
                <a:latin typeface="Arial" pitchFamily="34" charset="0"/>
                <a:ea typeface="Arial" pitchFamily="34" charset="-122"/>
                <a:cs typeface="Arial" pitchFamily="34" charset="-120"/>
              </a:rPr>
              <a:t>chỉ số xét nghiệm thực tế dùng làm đặc trưng đầu vào</a:t>
            </a:r>
            <a:endParaRPr lang="en-US" sz="1050" dirty="0"/>
          </a:p>
        </p:txBody>
      </p:sp>
      <p:sp>
        <p:nvSpPr>
          <p:cNvPr id="10" name="Shape 8"/>
          <p:cNvSpPr/>
          <p:nvPr/>
        </p:nvSpPr>
        <p:spPr>
          <a:xfrm>
            <a:off x="6144768" y="1691640"/>
            <a:ext cx="2697480" cy="1417320"/>
          </a:xfrm>
          <a:prstGeom prst="roundRect">
            <a:avLst>
              <a:gd name="adj" fmla="val 5161"/>
            </a:avLst>
          </a:prstGeom>
          <a:solidFill>
            <a:srgbClr val="EAF3F1"/>
          </a:solidFill>
          <a:ln/>
          <a:effectLst>
            <a:outerShdw blurRad="76200" dist="25400" dir="5400000" algn="bl" rotWithShape="0">
              <a:srgbClr val="8FB3AC">
                <a:alpha val="35000"/>
              </a:srgbClr>
            </a:outerShdw>
          </a:effectLst>
        </p:spPr>
      </p:sp>
      <p:sp>
        <p:nvSpPr>
          <p:cNvPr id="11" name="Text 9"/>
          <p:cNvSpPr txBox="1"/>
          <p:nvPr/>
        </p:nvSpPr>
        <p:spPr>
          <a:xfrm>
            <a:off x="6281928" y="1801368"/>
            <a:ext cx="2423160" cy="779526"/>
          </a:xfrm>
          <a:prstGeom prst="rect">
            <a:avLst/>
          </a:prstGeom>
          <a:noFill/>
          <a:ln/>
        </p:spPr>
        <p:txBody>
          <a:bodyPr wrap="square" rtlCol="0" anchor="b"/>
          <a:lstStyle/>
          <a:p>
            <a:pPr marL="0" indent="0" algn="l">
              <a:buNone/>
            </a:pPr>
            <a:r>
              <a:rPr lang="en-US" sz="2400" b="1" dirty="0">
                <a:solidFill>
                  <a:srgbClr val="1C7293"/>
                </a:solidFill>
                <a:latin typeface="Century Schoolbook" pitchFamily="34" charset="0"/>
                <a:ea typeface="Century Schoolbook" pitchFamily="34" charset="-122"/>
                <a:cs typeface="Century Schoolbook" pitchFamily="34" charset="-120"/>
              </a:rPr>
              <a:t>5 cột</a:t>
            </a:r>
            <a:endParaRPr lang="en-US" sz="2400" dirty="0"/>
          </a:p>
        </p:txBody>
      </p:sp>
      <p:sp>
        <p:nvSpPr>
          <p:cNvPr id="12" name="Text 10"/>
          <p:cNvSpPr txBox="1"/>
          <p:nvPr/>
        </p:nvSpPr>
        <p:spPr>
          <a:xfrm>
            <a:off x="6281928" y="2542032"/>
            <a:ext cx="2423160" cy="538582"/>
          </a:xfrm>
          <a:prstGeom prst="rect">
            <a:avLst/>
          </a:prstGeom>
          <a:noFill/>
          <a:ln/>
        </p:spPr>
        <p:txBody>
          <a:bodyPr wrap="square" rtlCol="0" anchor="t"/>
          <a:lstStyle/>
          <a:p>
            <a:pPr marL="0" indent="0">
              <a:lnSpc>
                <a:spcPct val="115000"/>
              </a:lnSpc>
              <a:buNone/>
            </a:pPr>
            <a:r>
              <a:rPr lang="en-US" sz="1050" dirty="0">
                <a:solidFill>
                  <a:srgbClr val="6B7280"/>
                </a:solidFill>
                <a:latin typeface="Arial" pitchFamily="34" charset="0"/>
                <a:ea typeface="Arial" pitchFamily="34" charset="-122"/>
                <a:cs typeface="Arial" pitchFamily="34" charset="-120"/>
              </a:rPr>
              <a:t>có giá trị 0 vô lý, được coi là thiếu dữ liệu và điền bù</a:t>
            </a:r>
            <a:endParaRPr lang="en-US" sz="1050" dirty="0"/>
          </a:p>
        </p:txBody>
      </p:sp>
      <p:sp>
        <p:nvSpPr>
          <p:cNvPr id="13" name="Shape 11"/>
          <p:cNvSpPr/>
          <p:nvPr/>
        </p:nvSpPr>
        <p:spPr>
          <a:xfrm>
            <a:off x="8988552" y="1691640"/>
            <a:ext cx="2697480" cy="1417320"/>
          </a:xfrm>
          <a:prstGeom prst="roundRect">
            <a:avLst>
              <a:gd name="adj" fmla="val 5161"/>
            </a:avLst>
          </a:prstGeom>
          <a:solidFill>
            <a:srgbClr val="EAF3F1"/>
          </a:solidFill>
          <a:ln/>
          <a:effectLst>
            <a:outerShdw blurRad="76200" dist="25400" dir="5400000" algn="bl" rotWithShape="0">
              <a:srgbClr val="8FB3AC">
                <a:alpha val="35000"/>
              </a:srgbClr>
            </a:outerShdw>
          </a:effectLst>
        </p:spPr>
      </p:sp>
      <p:sp>
        <p:nvSpPr>
          <p:cNvPr id="14" name="Text 12"/>
          <p:cNvSpPr txBox="1"/>
          <p:nvPr/>
        </p:nvSpPr>
        <p:spPr>
          <a:xfrm>
            <a:off x="9125712" y="1801368"/>
            <a:ext cx="2423160" cy="779526"/>
          </a:xfrm>
          <a:prstGeom prst="rect">
            <a:avLst/>
          </a:prstGeom>
          <a:noFill/>
          <a:ln/>
        </p:spPr>
        <p:txBody>
          <a:bodyPr wrap="square" rtlCol="0" anchor="b"/>
          <a:lstStyle/>
          <a:p>
            <a:pPr marL="0" indent="0" algn="l">
              <a:buNone/>
            </a:pPr>
            <a:r>
              <a:rPr lang="en-US" sz="2400" b="1" dirty="0">
                <a:solidFill>
                  <a:srgbClr val="FF8A3D"/>
                </a:solidFill>
                <a:latin typeface="Century Schoolbook" pitchFamily="34" charset="0"/>
                <a:ea typeface="Century Schoolbook" pitchFamily="34" charset="-122"/>
                <a:cs typeface="Century Schoolbook" pitchFamily="34" charset="-120"/>
              </a:rPr>
              <a:t>KNN · 75.32%</a:t>
            </a:r>
            <a:endParaRPr lang="en-US" sz="2400" dirty="0"/>
          </a:p>
        </p:txBody>
      </p:sp>
      <p:sp>
        <p:nvSpPr>
          <p:cNvPr id="15" name="Text 13"/>
          <p:cNvSpPr txBox="1"/>
          <p:nvPr/>
        </p:nvSpPr>
        <p:spPr>
          <a:xfrm>
            <a:off x="9125712" y="2542032"/>
            <a:ext cx="2423160" cy="538582"/>
          </a:xfrm>
          <a:prstGeom prst="rect">
            <a:avLst/>
          </a:prstGeom>
          <a:noFill/>
          <a:ln/>
        </p:spPr>
        <p:txBody>
          <a:bodyPr wrap="square" rtlCol="0" anchor="t"/>
          <a:lstStyle/>
          <a:p>
            <a:pPr marL="0" indent="0">
              <a:lnSpc>
                <a:spcPct val="115000"/>
              </a:lnSpc>
              <a:buNone/>
            </a:pPr>
            <a:r>
              <a:rPr lang="en-US" sz="1050" dirty="0">
                <a:solidFill>
                  <a:srgbClr val="6B7280"/>
                </a:solidFill>
                <a:latin typeface="Arial" pitchFamily="34" charset="0"/>
                <a:ea typeface="Arial" pitchFamily="34" charset="-122"/>
                <a:cs typeface="Arial" pitchFamily="34" charset="-120"/>
              </a:rPr>
              <a:t>thuật toán được chọn, theo Accuracy trên tập kiểm tra</a:t>
            </a:r>
            <a:endParaRPr lang="en-US" sz="1050" dirty="0"/>
          </a:p>
        </p:txBody>
      </p:sp>
      <p:sp>
        <p:nvSpPr>
          <p:cNvPr id="16" name="Shape 14"/>
          <p:cNvSpPr/>
          <p:nvPr/>
        </p:nvSpPr>
        <p:spPr>
          <a:xfrm>
            <a:off x="457200" y="3383280"/>
            <a:ext cx="11274552" cy="2788920"/>
          </a:xfrm>
          <a:prstGeom prst="roundRect">
            <a:avLst>
              <a:gd name="adj" fmla="val 2951"/>
            </a:avLst>
          </a:prstGeom>
          <a:solidFill>
            <a:srgbClr val="EAF3F1"/>
          </a:solidFill>
          <a:ln/>
          <a:effectLst>
            <a:outerShdw blurRad="63500" dist="25400" dir="5400000" algn="bl" rotWithShape="0">
              <a:srgbClr val="8FB3AC">
                <a:alpha val="30000"/>
              </a:srgbClr>
            </a:outerShdw>
          </a:effectLst>
        </p:spPr>
      </p:sp>
      <p:sp>
        <p:nvSpPr>
          <p:cNvPr id="17" name="Text 15"/>
          <p:cNvSpPr txBox="1"/>
          <p:nvPr/>
        </p:nvSpPr>
        <p:spPr>
          <a:xfrm>
            <a:off x="777240" y="3611880"/>
            <a:ext cx="7315200" cy="320040"/>
          </a:xfrm>
          <a:prstGeom prst="rect">
            <a:avLst/>
          </a:prstGeom>
          <a:noFill/>
          <a:ln/>
        </p:spPr>
        <p:txBody>
          <a:bodyPr wrap="square" rtlCol="0" anchor="ctr"/>
          <a:lstStyle/>
          <a:p>
            <a:pPr marL="0" indent="0">
              <a:buNone/>
            </a:pPr>
            <a:r>
              <a:rPr lang="en-US" sz="1250" b="1" kern="0" spc="150" dirty="0">
                <a:solidFill>
                  <a:srgbClr val="1C7293"/>
                </a:solidFill>
                <a:latin typeface="Arial" pitchFamily="34" charset="0"/>
                <a:ea typeface="Arial" pitchFamily="34" charset="-122"/>
                <a:cs typeface="Arial" pitchFamily="34" charset="-120"/>
              </a:rPr>
              <a:t>QUY TRÌNH XỬ LÝ &amp; HUẤN LUYỆN</a:t>
            </a:r>
            <a:endParaRPr lang="en-US" sz="1250" dirty="0"/>
          </a:p>
        </p:txBody>
      </p:sp>
      <p:sp>
        <p:nvSpPr>
          <p:cNvPr id="18" name="Shape 16"/>
          <p:cNvSpPr/>
          <p:nvPr/>
        </p:nvSpPr>
        <p:spPr>
          <a:xfrm>
            <a:off x="777240" y="4114800"/>
            <a:ext cx="347472" cy="347472"/>
          </a:xfrm>
          <a:prstGeom prst="ellipse">
            <a:avLst/>
          </a:prstGeom>
          <a:solidFill>
            <a:srgbClr val="FFFFFF"/>
          </a:solidFill>
          <a:ln/>
        </p:spPr>
      </p:sp>
      <p:sp>
        <p:nvSpPr>
          <p:cNvPr id="19" name="Text 17"/>
          <p:cNvSpPr txBox="1"/>
          <p:nvPr/>
        </p:nvSpPr>
        <p:spPr>
          <a:xfrm>
            <a:off x="777240" y="4114800"/>
            <a:ext cx="347472" cy="347472"/>
          </a:xfrm>
          <a:prstGeom prst="rect">
            <a:avLst/>
          </a:prstGeom>
          <a:noFill/>
          <a:ln/>
        </p:spPr>
        <p:txBody>
          <a:bodyPr wrap="square" lIns="0" tIns="0" rIns="0" bIns="0" rtlCol="0" anchor="ctr"/>
          <a:lstStyle/>
          <a:p>
            <a:pPr marL="0" indent="0" algn="ctr">
              <a:buNone/>
            </a:pPr>
            <a:r>
              <a:rPr lang="en-US" sz="1200" b="1" dirty="0">
                <a:solidFill>
                  <a:srgbClr val="1C7293"/>
                </a:solidFill>
                <a:latin typeface="Arial" pitchFamily="34" charset="0"/>
                <a:ea typeface="Arial" pitchFamily="34" charset="-122"/>
                <a:cs typeface="Arial" pitchFamily="34" charset="-120"/>
              </a:rPr>
              <a:t>1</a:t>
            </a:r>
            <a:endParaRPr lang="en-US" sz="1200" dirty="0"/>
          </a:p>
        </p:txBody>
      </p:sp>
      <p:sp>
        <p:nvSpPr>
          <p:cNvPr id="20" name="Text 18"/>
          <p:cNvSpPr txBox="1"/>
          <p:nvPr/>
        </p:nvSpPr>
        <p:spPr>
          <a:xfrm>
            <a:off x="1280160" y="4059936"/>
            <a:ext cx="10149840" cy="566928"/>
          </a:xfrm>
          <a:prstGeom prst="rect">
            <a:avLst/>
          </a:prstGeom>
          <a:noFill/>
          <a:ln/>
        </p:spPr>
        <p:txBody>
          <a:bodyPr wrap="square" rtlCol="0" anchor="ctr"/>
          <a:lstStyle/>
          <a:p>
            <a:pPr marL="0" indent="0">
              <a:lnSpc>
                <a:spcPct val="120000"/>
              </a:lnSpc>
              <a:buNone/>
            </a:pPr>
            <a:r>
              <a:rPr lang="en-US" sz="1250" dirty="0">
                <a:solidFill>
                  <a:srgbClr val="1A1F36"/>
                </a:solidFill>
                <a:latin typeface="Arial" pitchFamily="34" charset="0"/>
                <a:ea typeface="Arial" pitchFamily="34" charset="-122"/>
                <a:cs typeface="Arial" pitchFamily="34" charset="-120"/>
              </a:rPr>
              <a:t>Đổi giá trị 0 vô lý về mặt y học (Glucose, huyết áp...) thành "thiếu dữ liệu"</a:t>
            </a:r>
            <a:endParaRPr lang="en-US" sz="1250" dirty="0"/>
          </a:p>
        </p:txBody>
      </p:sp>
      <p:sp>
        <p:nvSpPr>
          <p:cNvPr id="21" name="Shape 19"/>
          <p:cNvSpPr/>
          <p:nvPr/>
        </p:nvSpPr>
        <p:spPr>
          <a:xfrm>
            <a:off x="777240" y="4681728"/>
            <a:ext cx="347472" cy="347472"/>
          </a:xfrm>
          <a:prstGeom prst="ellipse">
            <a:avLst/>
          </a:prstGeom>
          <a:solidFill>
            <a:srgbClr val="FFFFFF"/>
          </a:solidFill>
          <a:ln/>
        </p:spPr>
      </p:sp>
      <p:sp>
        <p:nvSpPr>
          <p:cNvPr id="22" name="Text 20"/>
          <p:cNvSpPr txBox="1"/>
          <p:nvPr/>
        </p:nvSpPr>
        <p:spPr>
          <a:xfrm>
            <a:off x="777240" y="4681728"/>
            <a:ext cx="347472" cy="347472"/>
          </a:xfrm>
          <a:prstGeom prst="rect">
            <a:avLst/>
          </a:prstGeom>
          <a:noFill/>
          <a:ln/>
        </p:spPr>
        <p:txBody>
          <a:bodyPr wrap="square" lIns="0" tIns="0" rIns="0" bIns="0" rtlCol="0" anchor="ctr"/>
          <a:lstStyle/>
          <a:p>
            <a:pPr marL="0" indent="0" algn="ctr">
              <a:buNone/>
            </a:pPr>
            <a:r>
              <a:rPr lang="en-US" sz="1200" b="1" dirty="0">
                <a:solidFill>
                  <a:srgbClr val="1C7293"/>
                </a:solidFill>
                <a:latin typeface="Arial" pitchFamily="34" charset="0"/>
                <a:ea typeface="Arial" pitchFamily="34" charset="-122"/>
                <a:cs typeface="Arial" pitchFamily="34" charset="-120"/>
              </a:rPr>
              <a:t>2</a:t>
            </a:r>
            <a:endParaRPr lang="en-US" sz="1200" dirty="0"/>
          </a:p>
        </p:txBody>
      </p:sp>
      <p:sp>
        <p:nvSpPr>
          <p:cNvPr id="23" name="Text 21"/>
          <p:cNvSpPr txBox="1"/>
          <p:nvPr/>
        </p:nvSpPr>
        <p:spPr>
          <a:xfrm>
            <a:off x="1280160" y="4626864"/>
            <a:ext cx="10149840" cy="566928"/>
          </a:xfrm>
          <a:prstGeom prst="rect">
            <a:avLst/>
          </a:prstGeom>
          <a:noFill/>
          <a:ln/>
        </p:spPr>
        <p:txBody>
          <a:bodyPr wrap="square" rtlCol="0" anchor="ctr"/>
          <a:lstStyle/>
          <a:p>
            <a:pPr marL="0" indent="0">
              <a:lnSpc>
                <a:spcPct val="120000"/>
              </a:lnSpc>
              <a:buNone/>
            </a:pPr>
            <a:r>
              <a:rPr lang="en-US" sz="1250" dirty="0">
                <a:solidFill>
                  <a:srgbClr val="1A1F36"/>
                </a:solidFill>
                <a:latin typeface="Arial" pitchFamily="34" charset="0"/>
                <a:ea typeface="Arial" pitchFamily="34" charset="-122"/>
                <a:cs typeface="Arial" pitchFamily="34" charset="-120"/>
              </a:rPr>
              <a:t>Điền bù bằng trung vị, thực hiện ngay bên trong Pipeline để tránh rò rỉ thông tin từ tập kiểm tra</a:t>
            </a:r>
            <a:endParaRPr lang="en-US" sz="1250" dirty="0"/>
          </a:p>
        </p:txBody>
      </p:sp>
      <p:sp>
        <p:nvSpPr>
          <p:cNvPr id="24" name="Shape 22"/>
          <p:cNvSpPr/>
          <p:nvPr/>
        </p:nvSpPr>
        <p:spPr>
          <a:xfrm>
            <a:off x="777240" y="5248656"/>
            <a:ext cx="347472" cy="347472"/>
          </a:xfrm>
          <a:prstGeom prst="ellipse">
            <a:avLst/>
          </a:prstGeom>
          <a:solidFill>
            <a:srgbClr val="FFFFFF"/>
          </a:solidFill>
          <a:ln/>
        </p:spPr>
      </p:sp>
      <p:sp>
        <p:nvSpPr>
          <p:cNvPr id="25" name="Text 23"/>
          <p:cNvSpPr txBox="1"/>
          <p:nvPr/>
        </p:nvSpPr>
        <p:spPr>
          <a:xfrm>
            <a:off x="777240" y="5248656"/>
            <a:ext cx="347472" cy="347472"/>
          </a:xfrm>
          <a:prstGeom prst="rect">
            <a:avLst/>
          </a:prstGeom>
          <a:noFill/>
          <a:ln/>
        </p:spPr>
        <p:txBody>
          <a:bodyPr wrap="square" lIns="0" tIns="0" rIns="0" bIns="0" rtlCol="0" anchor="ctr"/>
          <a:lstStyle/>
          <a:p>
            <a:pPr marL="0" indent="0" algn="ctr">
              <a:buNone/>
            </a:pPr>
            <a:r>
              <a:rPr lang="en-US" sz="1200" b="1" dirty="0">
                <a:solidFill>
                  <a:srgbClr val="1C7293"/>
                </a:solidFill>
                <a:latin typeface="Arial" pitchFamily="34" charset="0"/>
                <a:ea typeface="Arial" pitchFamily="34" charset="-122"/>
                <a:cs typeface="Arial" pitchFamily="34" charset="-120"/>
              </a:rPr>
              <a:t>3</a:t>
            </a:r>
            <a:endParaRPr lang="en-US" sz="1200" dirty="0"/>
          </a:p>
        </p:txBody>
      </p:sp>
      <p:sp>
        <p:nvSpPr>
          <p:cNvPr id="26" name="Text 24"/>
          <p:cNvSpPr txBox="1"/>
          <p:nvPr/>
        </p:nvSpPr>
        <p:spPr>
          <a:xfrm>
            <a:off x="1280160" y="5193792"/>
            <a:ext cx="10149840" cy="566928"/>
          </a:xfrm>
          <a:prstGeom prst="rect">
            <a:avLst/>
          </a:prstGeom>
          <a:noFill/>
          <a:ln/>
        </p:spPr>
        <p:txBody>
          <a:bodyPr wrap="square" rtlCol="0" anchor="ctr"/>
          <a:lstStyle/>
          <a:p>
            <a:pPr marL="0" indent="0">
              <a:lnSpc>
                <a:spcPct val="120000"/>
              </a:lnSpc>
              <a:buNone/>
            </a:pPr>
            <a:r>
              <a:rPr lang="en-US" sz="1250" dirty="0">
                <a:solidFill>
                  <a:srgbClr val="1A1F36"/>
                </a:solidFill>
                <a:latin typeface="Arial" pitchFamily="34" charset="0"/>
                <a:ea typeface="Arial" pitchFamily="34" charset="-122"/>
                <a:cs typeface="Arial" pitchFamily="34" charset="-120"/>
              </a:rPr>
              <a:t>Chuẩn hoá thang đo (StandardScaler), tránh cột Insulin (giá trị hàng trăm) lấn át cột BMI</a:t>
            </a:r>
            <a:endParaRPr lang="en-US" sz="1250" dirty="0"/>
          </a:p>
        </p:txBody>
      </p:sp>
      <p:sp>
        <p:nvSpPr>
          <p:cNvPr id="27" name="Shape 25"/>
          <p:cNvSpPr/>
          <p:nvPr/>
        </p:nvSpPr>
        <p:spPr>
          <a:xfrm>
            <a:off x="777240" y="5815584"/>
            <a:ext cx="347472" cy="347472"/>
          </a:xfrm>
          <a:prstGeom prst="ellipse">
            <a:avLst/>
          </a:prstGeom>
          <a:solidFill>
            <a:srgbClr val="FFFFFF"/>
          </a:solidFill>
          <a:ln/>
        </p:spPr>
      </p:sp>
      <p:sp>
        <p:nvSpPr>
          <p:cNvPr id="28" name="Text 26"/>
          <p:cNvSpPr txBox="1"/>
          <p:nvPr/>
        </p:nvSpPr>
        <p:spPr>
          <a:xfrm>
            <a:off x="777240" y="5815584"/>
            <a:ext cx="347472" cy="347472"/>
          </a:xfrm>
          <a:prstGeom prst="rect">
            <a:avLst/>
          </a:prstGeom>
          <a:noFill/>
          <a:ln/>
        </p:spPr>
        <p:txBody>
          <a:bodyPr wrap="square" lIns="0" tIns="0" rIns="0" bIns="0" rtlCol="0" anchor="ctr"/>
          <a:lstStyle/>
          <a:p>
            <a:pPr marL="0" indent="0" algn="ctr">
              <a:buNone/>
            </a:pPr>
            <a:r>
              <a:rPr lang="en-US" sz="1200" b="1" dirty="0">
                <a:solidFill>
                  <a:srgbClr val="1C7293"/>
                </a:solidFill>
                <a:latin typeface="Arial" pitchFamily="34" charset="0"/>
                <a:ea typeface="Arial" pitchFamily="34" charset="-122"/>
                <a:cs typeface="Arial" pitchFamily="34" charset="-120"/>
              </a:rPr>
              <a:t>4</a:t>
            </a:r>
            <a:endParaRPr lang="en-US" sz="1200" dirty="0"/>
          </a:p>
        </p:txBody>
      </p:sp>
      <p:sp>
        <p:nvSpPr>
          <p:cNvPr id="29" name="Text 27"/>
          <p:cNvSpPr txBox="1"/>
          <p:nvPr/>
        </p:nvSpPr>
        <p:spPr>
          <a:xfrm>
            <a:off x="1280160" y="5760720"/>
            <a:ext cx="10149840" cy="566928"/>
          </a:xfrm>
          <a:prstGeom prst="rect">
            <a:avLst/>
          </a:prstGeom>
          <a:noFill/>
          <a:ln/>
        </p:spPr>
        <p:txBody>
          <a:bodyPr wrap="square" rtlCol="0" anchor="ctr"/>
          <a:lstStyle/>
          <a:p>
            <a:pPr marL="0" indent="0">
              <a:lnSpc>
                <a:spcPct val="120000"/>
              </a:lnSpc>
              <a:buNone/>
            </a:pPr>
            <a:r>
              <a:rPr lang="en-US" sz="1250" dirty="0">
                <a:solidFill>
                  <a:srgbClr val="1A1F36"/>
                </a:solidFill>
                <a:latin typeface="Arial" pitchFamily="34" charset="0"/>
                <a:ea typeface="Arial" pitchFamily="34" charset="-122"/>
                <a:cs typeface="Arial" pitchFamily="34" charset="-120"/>
              </a:rPr>
              <a:t>So sánh 4 thuật toán, chọn theo F1 cao nhất; model này độc lập hoàn toàn với Model 1, không dùng chung dữ liệu</a:t>
            </a:r>
            <a:endParaRPr lang="en-US" sz="1250" dirty="0"/>
          </a:p>
        </p:txBody>
      </p:sp>
      <p:sp>
        <p:nvSpPr>
          <p:cNvPr id="30" name="Text 28"/>
          <p:cNvSpPr txBox="1"/>
          <p:nvPr/>
        </p:nvSpPr>
        <p:spPr>
          <a:xfrm>
            <a:off x="11000232" y="6473952"/>
            <a:ext cx="914400" cy="274320"/>
          </a:xfrm>
          <a:prstGeom prst="rect">
            <a:avLst/>
          </a:prstGeom>
          <a:noFill/>
          <a:ln/>
        </p:spPr>
        <p:txBody>
          <a:bodyPr wrap="square" rtlCol="0" anchor="ctr"/>
          <a:lstStyle/>
          <a:p>
            <a:pPr marL="0" indent="0" algn="r">
              <a:buNone/>
            </a:pPr>
            <a:r>
              <a:rPr lang="en-US" sz="900" dirty="0">
                <a:solidFill>
                  <a:srgbClr val="6B7280"/>
                </a:solidFill>
                <a:latin typeface="Arial" pitchFamily="34" charset="0"/>
                <a:ea typeface="Arial" pitchFamily="34" charset="-122"/>
                <a:cs typeface="Arial" pitchFamily="34" charset="-120"/>
              </a:rPr>
              <a:t>07 / 11</a:t>
            </a:r>
            <a:endParaRPr lang="en-US" sz="900" dirty="0"/>
          </a:p>
        </p:txBody>
      </p:sp>
      <p:sp>
        <p:nvSpPr>
          <p:cNvPr id="31" name="Text 29"/>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Arial" pitchFamily="34" charset="0"/>
                <a:ea typeface="Arial" pitchFamily="34" charset="-122"/>
                <a:cs typeface="Arial" pitchFamily="34" charset="-120"/>
              </a:rPr>
              <a:t>Đồ án Python HK3 — Sàng lọc &amp; dự đoán nguy cơ tiểu đường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0058400" cy="274320"/>
          </a:xfrm>
          <a:prstGeom prst="rect">
            <a:avLst/>
          </a:prstGeom>
          <a:noFill/>
          <a:ln/>
        </p:spPr>
        <p:txBody>
          <a:bodyPr wrap="square" rtlCol="0" anchor="t"/>
          <a:lstStyle/>
          <a:p>
            <a:pPr marL="0" indent="0">
              <a:buNone/>
            </a:pPr>
            <a:r>
              <a:rPr lang="en-US" sz="1200" b="1" kern="0" spc="200" dirty="0">
                <a:solidFill>
                  <a:srgbClr val="0F5C57"/>
                </a:solidFill>
                <a:latin typeface="Arial" pitchFamily="34" charset="0"/>
                <a:ea typeface="Arial" pitchFamily="34" charset="-122"/>
                <a:cs typeface="Arial" pitchFamily="34" charset="-120"/>
              </a:rPr>
              <a:t>ĐÁNH GIÁ MÔ HÌNH</a:t>
            </a:r>
            <a:endParaRPr lang="en-US" sz="1200" dirty="0"/>
          </a:p>
        </p:txBody>
      </p:sp>
      <p:sp>
        <p:nvSpPr>
          <p:cNvPr id="3" name="Text 1"/>
          <p:cNvSpPr txBox="1"/>
          <p:nvPr/>
        </p:nvSpPr>
        <p:spPr>
          <a:xfrm>
            <a:off x="457200" y="566928"/>
            <a:ext cx="11247120" cy="640080"/>
          </a:xfrm>
          <a:prstGeom prst="rect">
            <a:avLst/>
          </a:prstGeom>
          <a:noFill/>
          <a:ln/>
        </p:spPr>
        <p:txBody>
          <a:bodyPr wrap="square" rtlCol="0" anchor="t"/>
          <a:lstStyle/>
          <a:p>
            <a:pPr marL="0" indent="0">
              <a:buNone/>
            </a:pPr>
            <a:r>
              <a:rPr lang="en-US" sz="2800" b="1" dirty="0">
                <a:solidFill>
                  <a:srgbClr val="1A1F36"/>
                </a:solidFill>
                <a:latin typeface="Century Schoolbook" pitchFamily="34" charset="0"/>
                <a:ea typeface="Century Schoolbook" pitchFamily="34" charset="-122"/>
                <a:cs typeface="Century Schoolbook" pitchFamily="34" charset="-120"/>
              </a:rPr>
              <a:t>Kết quả huấn luyện &amp; lựa chọn thuật toán</a:t>
            </a:r>
            <a:endParaRPr lang="en-US" sz="2800" dirty="0"/>
          </a:p>
        </p:txBody>
      </p:sp>
      <p:graphicFrame>
        <p:nvGraphicFramePr>
          <p:cNvPr id="4" name="Chart 0"/>
          <p:cNvGraphicFramePr/>
          <p:nvPr/>
        </p:nvGraphicFramePr>
        <p:xfrm>
          <a:off x="457200" y="1645920"/>
          <a:ext cx="5440680" cy="32461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6263640" y="1645920"/>
          <a:ext cx="5440680" cy="324612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457200" y="5074920"/>
            <a:ext cx="5440680" cy="1234440"/>
          </a:xfrm>
          <a:prstGeom prst="roundRect">
            <a:avLst>
              <a:gd name="adj" fmla="val 6667"/>
            </a:avLst>
          </a:prstGeom>
          <a:solidFill>
            <a:srgbClr val="EAF3F1"/>
          </a:solidFill>
          <a:ln/>
          <a:effectLst>
            <a:outerShdw blurRad="63500" dist="25400" dir="5400000" algn="bl" rotWithShape="0">
              <a:srgbClr val="8FB3AC">
                <a:alpha val="30000"/>
              </a:srgbClr>
            </a:outerShdw>
          </a:effectLst>
        </p:spPr>
      </p:sp>
      <p:sp>
        <p:nvSpPr>
          <p:cNvPr id="7" name="Text 3"/>
          <p:cNvSpPr txBox="1"/>
          <p:nvPr/>
        </p:nvSpPr>
        <p:spPr>
          <a:xfrm>
            <a:off x="685800" y="5230368"/>
            <a:ext cx="4937760" cy="320040"/>
          </a:xfrm>
          <a:prstGeom prst="rect">
            <a:avLst/>
          </a:prstGeom>
          <a:noFill/>
          <a:ln/>
        </p:spPr>
        <p:txBody>
          <a:bodyPr wrap="square" rtlCol="0" anchor="ctr"/>
          <a:lstStyle/>
          <a:p>
            <a:pPr marL="0" indent="0">
              <a:buNone/>
            </a:pPr>
            <a:r>
              <a:rPr lang="en-US" sz="1300" b="1" dirty="0">
                <a:solidFill>
                  <a:srgbClr val="0F5C57"/>
                </a:solidFill>
                <a:latin typeface="Arial" pitchFamily="34" charset="0"/>
                <a:ea typeface="Arial" pitchFamily="34" charset="-122"/>
                <a:cs typeface="Arial" pitchFamily="34" charset="-120"/>
              </a:rPr>
              <a:t>Đã chọn: SVC</a:t>
            </a:r>
            <a:endParaRPr lang="en-US" sz="1300" dirty="0"/>
          </a:p>
        </p:txBody>
      </p:sp>
      <p:sp>
        <p:nvSpPr>
          <p:cNvPr id="8" name="Text 4"/>
          <p:cNvSpPr txBox="1"/>
          <p:nvPr/>
        </p:nvSpPr>
        <p:spPr>
          <a:xfrm>
            <a:off x="685800" y="5577840"/>
            <a:ext cx="4937760" cy="548640"/>
          </a:xfrm>
          <a:prstGeom prst="rect">
            <a:avLst/>
          </a:prstGeom>
          <a:noFill/>
          <a:ln/>
        </p:spPr>
        <p:txBody>
          <a:bodyPr wrap="square" rtlCol="0" anchor="ctr"/>
          <a:lstStyle/>
          <a:p>
            <a:pPr marL="0" indent="0">
              <a:buNone/>
            </a:pPr>
            <a:r>
              <a:rPr lang="en-US" sz="1150" dirty="0">
                <a:solidFill>
                  <a:srgbClr val="1A1F36"/>
                </a:solidFill>
                <a:latin typeface="Arial" pitchFamily="34" charset="0"/>
                <a:ea typeface="Arial" pitchFamily="34" charset="-122"/>
                <a:cs typeface="Arial" pitchFamily="34" charset="-120"/>
              </a:rPr>
              <a:t>Accuracy 92.16% </a:t>
            </a:r>
            <a:r>
              <a:rPr lang="en-US" sz="1150" dirty="0" smtClean="0">
                <a:solidFill>
                  <a:srgbClr val="1A1F36"/>
                </a:solidFill>
                <a:latin typeface="Arial" pitchFamily="34" charset="0"/>
                <a:ea typeface="Arial" pitchFamily="34" charset="-122"/>
                <a:cs typeface="Arial" pitchFamily="34" charset="-120"/>
              </a:rPr>
              <a:t> ·  ROC-AUC 0.9661</a:t>
            </a:r>
            <a:endParaRPr lang="en-US" sz="1150" dirty="0"/>
          </a:p>
        </p:txBody>
      </p:sp>
      <p:sp>
        <p:nvSpPr>
          <p:cNvPr id="9" name="Shape 5"/>
          <p:cNvSpPr/>
          <p:nvPr/>
        </p:nvSpPr>
        <p:spPr>
          <a:xfrm>
            <a:off x="6263640" y="5074920"/>
            <a:ext cx="5440680" cy="1234440"/>
          </a:xfrm>
          <a:prstGeom prst="roundRect">
            <a:avLst>
              <a:gd name="adj" fmla="val 6667"/>
            </a:avLst>
          </a:prstGeom>
          <a:solidFill>
            <a:srgbClr val="EAF3F1"/>
          </a:solidFill>
          <a:ln/>
          <a:effectLst>
            <a:outerShdw blurRad="63500" dist="25400" dir="5400000" algn="bl" rotWithShape="0">
              <a:srgbClr val="8FB3AC">
                <a:alpha val="30000"/>
              </a:srgbClr>
            </a:outerShdw>
          </a:effectLst>
        </p:spPr>
      </p:sp>
      <p:sp>
        <p:nvSpPr>
          <p:cNvPr id="10" name="Text 6"/>
          <p:cNvSpPr txBox="1"/>
          <p:nvPr/>
        </p:nvSpPr>
        <p:spPr>
          <a:xfrm>
            <a:off x="6492240" y="5230368"/>
            <a:ext cx="4937760" cy="320040"/>
          </a:xfrm>
          <a:prstGeom prst="rect">
            <a:avLst/>
          </a:prstGeom>
          <a:noFill/>
          <a:ln/>
        </p:spPr>
        <p:txBody>
          <a:bodyPr wrap="square" rtlCol="0" anchor="ctr"/>
          <a:lstStyle/>
          <a:p>
            <a:pPr marL="0" indent="0">
              <a:buNone/>
            </a:pPr>
            <a:r>
              <a:rPr lang="en-US" sz="1300" b="1" dirty="0">
                <a:solidFill>
                  <a:srgbClr val="1C7293"/>
                </a:solidFill>
                <a:latin typeface="Arial" pitchFamily="34" charset="0"/>
                <a:ea typeface="Arial" pitchFamily="34" charset="-122"/>
                <a:cs typeface="Arial" pitchFamily="34" charset="-120"/>
              </a:rPr>
              <a:t>Đã chọn: KNN</a:t>
            </a:r>
            <a:endParaRPr lang="en-US" sz="1300" dirty="0"/>
          </a:p>
        </p:txBody>
      </p:sp>
      <p:sp>
        <p:nvSpPr>
          <p:cNvPr id="11" name="Text 7"/>
          <p:cNvSpPr txBox="1"/>
          <p:nvPr/>
        </p:nvSpPr>
        <p:spPr>
          <a:xfrm>
            <a:off x="6492240" y="5577840"/>
            <a:ext cx="4937760" cy="548640"/>
          </a:xfrm>
          <a:prstGeom prst="rect">
            <a:avLst/>
          </a:prstGeom>
          <a:noFill/>
          <a:ln/>
        </p:spPr>
        <p:txBody>
          <a:bodyPr wrap="square" rtlCol="0" anchor="ctr"/>
          <a:lstStyle/>
          <a:p>
            <a:pPr marL="0" indent="0">
              <a:buNone/>
            </a:pPr>
            <a:r>
              <a:rPr lang="en-US" sz="1150" dirty="0">
                <a:solidFill>
                  <a:srgbClr val="1A1F36"/>
                </a:solidFill>
                <a:latin typeface="Arial" pitchFamily="34" charset="0"/>
                <a:ea typeface="Arial" pitchFamily="34" charset="-122"/>
                <a:cs typeface="Arial" pitchFamily="34" charset="-120"/>
              </a:rPr>
              <a:t>Accuracy 75.32%  ·  ROC-AUC 0.7899</a:t>
            </a:r>
            <a:endParaRPr lang="en-US" sz="1150" dirty="0"/>
          </a:p>
        </p:txBody>
      </p:sp>
      <p:sp>
        <p:nvSpPr>
          <p:cNvPr id="12" name="Text 8"/>
          <p:cNvSpPr txBox="1"/>
          <p:nvPr/>
        </p:nvSpPr>
        <p:spPr>
          <a:xfrm>
            <a:off x="11000232" y="6473952"/>
            <a:ext cx="914400" cy="274320"/>
          </a:xfrm>
          <a:prstGeom prst="rect">
            <a:avLst/>
          </a:prstGeom>
          <a:noFill/>
          <a:ln/>
        </p:spPr>
        <p:txBody>
          <a:bodyPr wrap="square" rtlCol="0" anchor="ctr"/>
          <a:lstStyle/>
          <a:p>
            <a:pPr marL="0" indent="0" algn="r">
              <a:buNone/>
            </a:pPr>
            <a:r>
              <a:rPr lang="en-US" sz="900" dirty="0">
                <a:solidFill>
                  <a:srgbClr val="6B7280"/>
                </a:solidFill>
                <a:latin typeface="Arial" pitchFamily="34" charset="0"/>
                <a:ea typeface="Arial" pitchFamily="34" charset="-122"/>
                <a:cs typeface="Arial" pitchFamily="34" charset="-120"/>
              </a:rPr>
              <a:t>08 / 11</a:t>
            </a:r>
            <a:endParaRPr lang="en-US" sz="900" dirty="0"/>
          </a:p>
        </p:txBody>
      </p:sp>
      <p:sp>
        <p:nvSpPr>
          <p:cNvPr id="13" name="Text 9"/>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Arial" pitchFamily="34" charset="0"/>
                <a:ea typeface="Arial" pitchFamily="34" charset="-122"/>
                <a:cs typeface="Arial" pitchFamily="34" charset="-120"/>
              </a:rPr>
              <a:t>Đồ án Python HK3 — Sàng lọc &amp; dự đoán nguy cơ tiểu đường</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0058400" cy="274320"/>
          </a:xfrm>
          <a:prstGeom prst="rect">
            <a:avLst/>
          </a:prstGeom>
          <a:noFill/>
          <a:ln/>
        </p:spPr>
        <p:txBody>
          <a:bodyPr wrap="square" rtlCol="0" anchor="t"/>
          <a:lstStyle/>
          <a:p>
            <a:pPr marL="0" indent="0">
              <a:buNone/>
            </a:pPr>
            <a:r>
              <a:rPr lang="en-US" sz="1200" b="1" kern="0" spc="200" dirty="0">
                <a:solidFill>
                  <a:srgbClr val="0F5C57"/>
                </a:solidFill>
                <a:latin typeface="Arial" pitchFamily="34" charset="0"/>
                <a:ea typeface="Arial" pitchFamily="34" charset="-122"/>
                <a:cs typeface="Arial" pitchFamily="34" charset="-120"/>
              </a:rPr>
              <a:t>VẬN HÀNH</a:t>
            </a:r>
            <a:endParaRPr lang="en-US" sz="1200" dirty="0"/>
          </a:p>
        </p:txBody>
      </p:sp>
      <p:sp>
        <p:nvSpPr>
          <p:cNvPr id="3" name="Text 1"/>
          <p:cNvSpPr txBox="1"/>
          <p:nvPr/>
        </p:nvSpPr>
        <p:spPr>
          <a:xfrm>
            <a:off x="457200" y="566928"/>
            <a:ext cx="11247120" cy="640080"/>
          </a:xfrm>
          <a:prstGeom prst="rect">
            <a:avLst/>
          </a:prstGeom>
          <a:noFill/>
          <a:ln/>
        </p:spPr>
        <p:txBody>
          <a:bodyPr wrap="square" rtlCol="0" anchor="t"/>
          <a:lstStyle/>
          <a:p>
            <a:pPr marL="0" indent="0">
              <a:buNone/>
            </a:pPr>
            <a:r>
              <a:rPr lang="en-US" sz="2800" b="1" dirty="0">
                <a:solidFill>
                  <a:srgbClr val="1A1F36"/>
                </a:solidFill>
                <a:latin typeface="Century Schoolbook" pitchFamily="34" charset="0"/>
                <a:ea typeface="Century Schoolbook" pitchFamily="34" charset="-122"/>
                <a:cs typeface="Century Schoolbook" pitchFamily="34" charset="-120"/>
              </a:rPr>
              <a:t>Luồng dự đoán &amp; phân mức rủi ro</a:t>
            </a:r>
            <a:endParaRPr lang="en-US" sz="2800" dirty="0"/>
          </a:p>
        </p:txBody>
      </p:sp>
      <p:sp>
        <p:nvSpPr>
          <p:cNvPr id="4" name="Shape 2"/>
          <p:cNvSpPr/>
          <p:nvPr/>
        </p:nvSpPr>
        <p:spPr>
          <a:xfrm>
            <a:off x="457200" y="1737360"/>
            <a:ext cx="2606040" cy="1051560"/>
          </a:xfrm>
          <a:prstGeom prst="roundRect">
            <a:avLst>
              <a:gd name="adj" fmla="val 7826"/>
            </a:avLst>
          </a:prstGeom>
          <a:solidFill>
            <a:srgbClr val="EAF3F1"/>
          </a:solidFill>
          <a:ln/>
          <a:effectLst>
            <a:outerShdw blurRad="63500" dist="25400" dir="5400000" algn="bl" rotWithShape="0">
              <a:srgbClr val="8FB3AC">
                <a:alpha val="30000"/>
              </a:srgbClr>
            </a:outerShdw>
          </a:effectLst>
        </p:spPr>
      </p:sp>
      <p:sp>
        <p:nvSpPr>
          <p:cNvPr id="5" name="Shape 3"/>
          <p:cNvSpPr/>
          <p:nvPr/>
        </p:nvSpPr>
        <p:spPr>
          <a:xfrm>
            <a:off x="640080" y="1938528"/>
            <a:ext cx="457200" cy="457200"/>
          </a:xfrm>
          <a:prstGeom prst="ellipse">
            <a:avLst/>
          </a:prstGeom>
          <a:solidFill>
            <a:srgbClr val="0F5C57"/>
          </a:solidFill>
          <a:ln/>
        </p:spPr>
      </p:sp>
      <p:sp>
        <p:nvSpPr>
          <p:cNvPr id="6" name="Text 4"/>
          <p:cNvSpPr txBox="1"/>
          <p:nvPr/>
        </p:nvSpPr>
        <p:spPr>
          <a:xfrm>
            <a:off x="640080" y="19385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234440" y="1737360"/>
            <a:ext cx="1691640" cy="1051560"/>
          </a:xfrm>
          <a:prstGeom prst="rect">
            <a:avLst/>
          </a:prstGeom>
          <a:noFill/>
          <a:ln/>
        </p:spPr>
        <p:txBody>
          <a:bodyPr wrap="square" rtlCol="0" anchor="ctr"/>
          <a:lstStyle/>
          <a:p>
            <a:pPr marL="0" indent="0">
              <a:lnSpc>
                <a:spcPct val="115000"/>
              </a:lnSpc>
              <a:buNone/>
            </a:pPr>
            <a:r>
              <a:rPr lang="en-US" sz="1250" b="1" dirty="0">
                <a:solidFill>
                  <a:srgbClr val="1A1F36"/>
                </a:solidFill>
                <a:latin typeface="Arial" pitchFamily="34" charset="0"/>
                <a:ea typeface="Arial" pitchFamily="34" charset="-122"/>
                <a:cs typeface="Arial" pitchFamily="34" charset="-120"/>
              </a:rPr>
              <a:t>Chọn bệnh nhân</a:t>
            </a:r>
            <a:endParaRPr lang="en-US" sz="1250" dirty="0"/>
          </a:p>
        </p:txBody>
      </p:sp>
      <p:sp>
        <p:nvSpPr>
          <p:cNvPr id="8" name="Text 6"/>
          <p:cNvSpPr txBox="1"/>
          <p:nvPr/>
        </p:nvSpPr>
        <p:spPr>
          <a:xfrm>
            <a:off x="3090672" y="2057400"/>
            <a:ext cx="329184" cy="411480"/>
          </a:xfrm>
          <a:prstGeom prst="rect">
            <a:avLst/>
          </a:prstGeom>
          <a:noFill/>
          <a:ln/>
        </p:spPr>
        <p:txBody>
          <a:bodyPr wrap="square" rtlCol="0" anchor="ctr"/>
          <a:lstStyle/>
          <a:p>
            <a:pPr marL="0" indent="0" algn="ctr">
              <a:buNone/>
            </a:pPr>
            <a:r>
              <a:rPr lang="en-US" sz="2000" b="1" dirty="0">
                <a:solidFill>
                  <a:srgbClr val="6B7280"/>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3447288" y="1737360"/>
            <a:ext cx="2606040" cy="1051560"/>
          </a:xfrm>
          <a:prstGeom prst="roundRect">
            <a:avLst>
              <a:gd name="adj" fmla="val 7826"/>
            </a:avLst>
          </a:prstGeom>
          <a:solidFill>
            <a:srgbClr val="EAF3F1"/>
          </a:solidFill>
          <a:ln/>
          <a:effectLst>
            <a:outerShdw blurRad="63500" dist="25400" dir="5400000" algn="bl" rotWithShape="0">
              <a:srgbClr val="8FB3AC">
                <a:alpha val="30000"/>
              </a:srgbClr>
            </a:outerShdw>
          </a:effectLst>
        </p:spPr>
      </p:sp>
      <p:sp>
        <p:nvSpPr>
          <p:cNvPr id="10" name="Shape 8"/>
          <p:cNvSpPr/>
          <p:nvPr/>
        </p:nvSpPr>
        <p:spPr>
          <a:xfrm>
            <a:off x="3630168" y="1938528"/>
            <a:ext cx="457200" cy="457200"/>
          </a:xfrm>
          <a:prstGeom prst="ellipse">
            <a:avLst/>
          </a:prstGeom>
          <a:solidFill>
            <a:srgbClr val="0F5C57"/>
          </a:solidFill>
          <a:ln/>
        </p:spPr>
      </p:sp>
      <p:sp>
        <p:nvSpPr>
          <p:cNvPr id="11" name="Text 9"/>
          <p:cNvSpPr txBox="1"/>
          <p:nvPr/>
        </p:nvSpPr>
        <p:spPr>
          <a:xfrm>
            <a:off x="3630168" y="19385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4224528" y="1737360"/>
            <a:ext cx="1691640" cy="1051560"/>
          </a:xfrm>
          <a:prstGeom prst="rect">
            <a:avLst/>
          </a:prstGeom>
          <a:noFill/>
          <a:ln/>
        </p:spPr>
        <p:txBody>
          <a:bodyPr wrap="square" rtlCol="0" anchor="ctr"/>
          <a:lstStyle/>
          <a:p>
            <a:pPr marL="0" indent="0">
              <a:lnSpc>
                <a:spcPct val="115000"/>
              </a:lnSpc>
              <a:buNone/>
            </a:pPr>
            <a:r>
              <a:rPr lang="en-US" sz="1250" b="1" dirty="0">
                <a:solidFill>
                  <a:srgbClr val="1A1F36"/>
                </a:solidFill>
                <a:latin typeface="Arial" pitchFamily="34" charset="0"/>
                <a:ea typeface="Arial" pitchFamily="34" charset="-122"/>
                <a:cs typeface="Arial" pitchFamily="34" charset="-120"/>
              </a:rPr>
              <a:t>Nhập triệu chứng / chỉ số</a:t>
            </a:r>
            <a:endParaRPr lang="en-US" sz="1250" dirty="0"/>
          </a:p>
        </p:txBody>
      </p:sp>
      <p:sp>
        <p:nvSpPr>
          <p:cNvPr id="13" name="Text 11"/>
          <p:cNvSpPr txBox="1"/>
          <p:nvPr/>
        </p:nvSpPr>
        <p:spPr>
          <a:xfrm>
            <a:off x="6080760" y="2057400"/>
            <a:ext cx="329184" cy="411480"/>
          </a:xfrm>
          <a:prstGeom prst="rect">
            <a:avLst/>
          </a:prstGeom>
          <a:noFill/>
          <a:ln/>
        </p:spPr>
        <p:txBody>
          <a:bodyPr wrap="square" rtlCol="0" anchor="ctr"/>
          <a:lstStyle/>
          <a:p>
            <a:pPr marL="0" indent="0" algn="ctr">
              <a:buNone/>
            </a:pPr>
            <a:r>
              <a:rPr lang="en-US" sz="2000" b="1" dirty="0">
                <a:solidFill>
                  <a:srgbClr val="6B7280"/>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6437376" y="1737360"/>
            <a:ext cx="2606040" cy="1051560"/>
          </a:xfrm>
          <a:prstGeom prst="roundRect">
            <a:avLst>
              <a:gd name="adj" fmla="val 7826"/>
            </a:avLst>
          </a:prstGeom>
          <a:solidFill>
            <a:srgbClr val="EAF3F1"/>
          </a:solidFill>
          <a:ln/>
          <a:effectLst>
            <a:outerShdw blurRad="63500" dist="25400" dir="5400000" algn="bl" rotWithShape="0">
              <a:srgbClr val="8FB3AC">
                <a:alpha val="30000"/>
              </a:srgbClr>
            </a:outerShdw>
          </a:effectLst>
        </p:spPr>
      </p:sp>
      <p:sp>
        <p:nvSpPr>
          <p:cNvPr id="15" name="Shape 13"/>
          <p:cNvSpPr/>
          <p:nvPr/>
        </p:nvSpPr>
        <p:spPr>
          <a:xfrm>
            <a:off x="6620256" y="1938528"/>
            <a:ext cx="457200" cy="457200"/>
          </a:xfrm>
          <a:prstGeom prst="ellipse">
            <a:avLst/>
          </a:prstGeom>
          <a:solidFill>
            <a:srgbClr val="0F5C57"/>
          </a:solidFill>
          <a:ln/>
        </p:spPr>
      </p:sp>
      <p:sp>
        <p:nvSpPr>
          <p:cNvPr id="16" name="Text 14"/>
          <p:cNvSpPr txBox="1"/>
          <p:nvPr/>
        </p:nvSpPr>
        <p:spPr>
          <a:xfrm>
            <a:off x="6620256" y="19385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7214616" y="1737360"/>
            <a:ext cx="1691640" cy="1051560"/>
          </a:xfrm>
          <a:prstGeom prst="rect">
            <a:avLst/>
          </a:prstGeom>
          <a:noFill/>
          <a:ln/>
        </p:spPr>
        <p:txBody>
          <a:bodyPr wrap="square" rtlCol="0" anchor="ctr"/>
          <a:lstStyle/>
          <a:p>
            <a:pPr marL="0" indent="0">
              <a:lnSpc>
                <a:spcPct val="115000"/>
              </a:lnSpc>
              <a:buNone/>
            </a:pPr>
            <a:r>
              <a:rPr lang="en-US" sz="1250" b="1" dirty="0">
                <a:solidFill>
                  <a:srgbClr val="1A1F36"/>
                </a:solidFill>
                <a:latin typeface="Arial" pitchFamily="34" charset="0"/>
                <a:ea typeface="Arial" pitchFamily="34" charset="-122"/>
                <a:cs typeface="Arial" pitchFamily="34" charset="-120"/>
              </a:rPr>
              <a:t>Model dự đoán (Pipeline)</a:t>
            </a:r>
            <a:endParaRPr lang="en-US" sz="1250" dirty="0"/>
          </a:p>
        </p:txBody>
      </p:sp>
      <p:sp>
        <p:nvSpPr>
          <p:cNvPr id="18" name="Text 16"/>
          <p:cNvSpPr txBox="1"/>
          <p:nvPr/>
        </p:nvSpPr>
        <p:spPr>
          <a:xfrm>
            <a:off x="9070848" y="2057400"/>
            <a:ext cx="329184" cy="411480"/>
          </a:xfrm>
          <a:prstGeom prst="rect">
            <a:avLst/>
          </a:prstGeom>
          <a:noFill/>
          <a:ln/>
        </p:spPr>
        <p:txBody>
          <a:bodyPr wrap="square" rtlCol="0" anchor="ctr"/>
          <a:lstStyle/>
          <a:p>
            <a:pPr marL="0" indent="0" algn="ctr">
              <a:buNone/>
            </a:pPr>
            <a:r>
              <a:rPr lang="en-US" sz="2000" b="1" dirty="0">
                <a:solidFill>
                  <a:srgbClr val="6B7280"/>
                </a:solidFill>
                <a:latin typeface="Arial" pitchFamily="34" charset="0"/>
                <a:ea typeface="Arial" pitchFamily="34" charset="-122"/>
                <a:cs typeface="Arial" pitchFamily="34" charset="-120"/>
              </a:rPr>
              <a:t>→</a:t>
            </a:r>
            <a:endParaRPr lang="en-US" sz="2000" dirty="0"/>
          </a:p>
        </p:txBody>
      </p:sp>
      <p:sp>
        <p:nvSpPr>
          <p:cNvPr id="19" name="Shape 17"/>
          <p:cNvSpPr/>
          <p:nvPr/>
        </p:nvSpPr>
        <p:spPr>
          <a:xfrm>
            <a:off x="9427464" y="1737360"/>
            <a:ext cx="2606040" cy="1051560"/>
          </a:xfrm>
          <a:prstGeom prst="roundRect">
            <a:avLst>
              <a:gd name="adj" fmla="val 7826"/>
            </a:avLst>
          </a:prstGeom>
          <a:solidFill>
            <a:srgbClr val="0B4642"/>
          </a:solidFill>
          <a:ln/>
          <a:effectLst>
            <a:outerShdw blurRad="63500" dist="25400" dir="5400000" algn="bl" rotWithShape="0">
              <a:srgbClr val="8FB3AC">
                <a:alpha val="30000"/>
              </a:srgbClr>
            </a:outerShdw>
          </a:effectLst>
        </p:spPr>
      </p:sp>
      <p:sp>
        <p:nvSpPr>
          <p:cNvPr id="20" name="Shape 18"/>
          <p:cNvSpPr/>
          <p:nvPr/>
        </p:nvSpPr>
        <p:spPr>
          <a:xfrm>
            <a:off x="9610344" y="1938528"/>
            <a:ext cx="457200" cy="457200"/>
          </a:xfrm>
          <a:prstGeom prst="ellipse">
            <a:avLst/>
          </a:prstGeom>
          <a:solidFill>
            <a:srgbClr val="FF8A3D"/>
          </a:solidFill>
          <a:ln/>
        </p:spPr>
      </p:sp>
      <p:sp>
        <p:nvSpPr>
          <p:cNvPr id="21" name="Text 19"/>
          <p:cNvSpPr txBox="1"/>
          <p:nvPr/>
        </p:nvSpPr>
        <p:spPr>
          <a:xfrm>
            <a:off x="9610344" y="19385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2" name="Text 20"/>
          <p:cNvSpPr txBox="1"/>
          <p:nvPr/>
        </p:nvSpPr>
        <p:spPr>
          <a:xfrm>
            <a:off x="10204704" y="1737360"/>
            <a:ext cx="1691640" cy="1051560"/>
          </a:xfrm>
          <a:prstGeom prst="rect">
            <a:avLst/>
          </a:prstGeom>
          <a:noFill/>
          <a:ln/>
        </p:spPr>
        <p:txBody>
          <a:bodyPr wrap="square" rtlCol="0" anchor="ctr"/>
          <a:lstStyle/>
          <a:p>
            <a:pPr marL="0" indent="0">
              <a:lnSpc>
                <a:spcPct val="115000"/>
              </a:lnSpc>
              <a:buNone/>
            </a:pPr>
            <a:r>
              <a:rPr lang="en-US" sz="1250" b="1" dirty="0">
                <a:solidFill>
                  <a:srgbClr val="FFFFFF"/>
                </a:solidFill>
                <a:latin typeface="Arial" pitchFamily="34" charset="0"/>
                <a:ea typeface="Arial" pitchFamily="34" charset="-122"/>
                <a:cs typeface="Arial" pitchFamily="34" charset="-120"/>
              </a:rPr>
              <a:t>Kết quả + lưu lịch sử</a:t>
            </a:r>
            <a:endParaRPr lang="en-US" sz="1250" dirty="0"/>
          </a:p>
        </p:txBody>
      </p:sp>
      <p:sp>
        <p:nvSpPr>
          <p:cNvPr id="23" name="Text 21"/>
          <p:cNvSpPr txBox="1"/>
          <p:nvPr/>
        </p:nvSpPr>
        <p:spPr>
          <a:xfrm>
            <a:off x="457200" y="3200400"/>
            <a:ext cx="7315200" cy="320040"/>
          </a:xfrm>
          <a:prstGeom prst="rect">
            <a:avLst/>
          </a:prstGeom>
          <a:noFill/>
          <a:ln/>
        </p:spPr>
        <p:txBody>
          <a:bodyPr wrap="square" rtlCol="0" anchor="ctr"/>
          <a:lstStyle/>
          <a:p>
            <a:pPr marL="0" indent="0">
              <a:buNone/>
            </a:pPr>
            <a:r>
              <a:rPr lang="en-US" sz="1300" b="1" kern="0" spc="200" dirty="0">
                <a:solidFill>
                  <a:srgbClr val="0F5C57"/>
                </a:solidFill>
                <a:latin typeface="Arial" pitchFamily="34" charset="0"/>
                <a:ea typeface="Arial" pitchFamily="34" charset="-122"/>
                <a:cs typeface="Arial" pitchFamily="34" charset="-120"/>
              </a:rPr>
              <a:t>MỨC RỦI RO HIỂN THỊ THEO XÁC SUẤT</a:t>
            </a:r>
            <a:endParaRPr lang="en-US" sz="1300" dirty="0"/>
          </a:p>
        </p:txBody>
      </p:sp>
      <p:sp>
        <p:nvSpPr>
          <p:cNvPr id="24" name="Shape 22"/>
          <p:cNvSpPr/>
          <p:nvPr/>
        </p:nvSpPr>
        <p:spPr>
          <a:xfrm>
            <a:off x="457200" y="3611880"/>
            <a:ext cx="3639312" cy="1417320"/>
          </a:xfrm>
          <a:prstGeom prst="roundRect">
            <a:avLst>
              <a:gd name="adj" fmla="val 5806"/>
            </a:avLst>
          </a:prstGeom>
          <a:solidFill>
            <a:srgbClr val="16A34A">
              <a:alpha val="12000"/>
            </a:srgbClr>
          </a:solidFill>
          <a:ln w="15875">
            <a:solidFill>
              <a:srgbClr val="16A34A"/>
            </a:solidFill>
            <a:prstDash val="solid"/>
          </a:ln>
        </p:spPr>
      </p:sp>
      <p:sp>
        <p:nvSpPr>
          <p:cNvPr id="25" name="Text 23"/>
          <p:cNvSpPr txBox="1"/>
          <p:nvPr/>
        </p:nvSpPr>
        <p:spPr>
          <a:xfrm>
            <a:off x="685800" y="3794760"/>
            <a:ext cx="3182112" cy="457200"/>
          </a:xfrm>
          <a:prstGeom prst="rect">
            <a:avLst/>
          </a:prstGeom>
          <a:noFill/>
          <a:ln/>
        </p:spPr>
        <p:txBody>
          <a:bodyPr wrap="square" rtlCol="0" anchor="ctr"/>
          <a:lstStyle/>
          <a:p>
            <a:pPr marL="0" indent="0">
              <a:buNone/>
            </a:pPr>
            <a:r>
              <a:rPr lang="en-US" sz="1900" b="1" dirty="0">
                <a:solidFill>
                  <a:srgbClr val="16A34A"/>
                </a:solidFill>
                <a:latin typeface="Century Schoolbook" pitchFamily="34" charset="0"/>
                <a:ea typeface="Century Schoolbook" pitchFamily="34" charset="-122"/>
                <a:cs typeface="Century Schoolbook" pitchFamily="34" charset="-120"/>
              </a:rPr>
              <a:t>THẤP</a:t>
            </a:r>
            <a:endParaRPr lang="en-US" sz="1900" dirty="0"/>
          </a:p>
        </p:txBody>
      </p:sp>
      <p:sp>
        <p:nvSpPr>
          <p:cNvPr id="26" name="Text 24"/>
          <p:cNvSpPr txBox="1"/>
          <p:nvPr/>
        </p:nvSpPr>
        <p:spPr>
          <a:xfrm>
            <a:off x="685800" y="4343400"/>
            <a:ext cx="3182112" cy="457200"/>
          </a:xfrm>
          <a:prstGeom prst="rect">
            <a:avLst/>
          </a:prstGeom>
          <a:noFill/>
          <a:ln/>
        </p:spPr>
        <p:txBody>
          <a:bodyPr wrap="square" rtlCol="0" anchor="ctr"/>
          <a:lstStyle/>
          <a:p>
            <a:pPr marL="0" indent="0">
              <a:buNone/>
            </a:pPr>
            <a:r>
              <a:rPr lang="en-US" sz="1250" dirty="0">
                <a:solidFill>
                  <a:srgbClr val="1A1F36"/>
                </a:solidFill>
                <a:latin typeface="Arial" pitchFamily="34" charset="0"/>
                <a:ea typeface="Arial" pitchFamily="34" charset="-122"/>
                <a:cs typeface="Arial" pitchFamily="34" charset="-120"/>
              </a:rPr>
              <a:t>Dưới 30%</a:t>
            </a:r>
            <a:endParaRPr lang="en-US" sz="1250" dirty="0"/>
          </a:p>
        </p:txBody>
      </p:sp>
      <p:sp>
        <p:nvSpPr>
          <p:cNvPr id="27" name="Shape 25"/>
          <p:cNvSpPr/>
          <p:nvPr/>
        </p:nvSpPr>
        <p:spPr>
          <a:xfrm>
            <a:off x="4279392" y="3611880"/>
            <a:ext cx="3639312" cy="1417320"/>
          </a:xfrm>
          <a:prstGeom prst="roundRect">
            <a:avLst>
              <a:gd name="adj" fmla="val 5806"/>
            </a:avLst>
          </a:prstGeom>
          <a:solidFill>
            <a:srgbClr val="D97706">
              <a:alpha val="12000"/>
            </a:srgbClr>
          </a:solidFill>
          <a:ln w="15875">
            <a:solidFill>
              <a:srgbClr val="D97706"/>
            </a:solidFill>
            <a:prstDash val="solid"/>
          </a:ln>
        </p:spPr>
      </p:sp>
      <p:sp>
        <p:nvSpPr>
          <p:cNvPr id="28" name="Text 26"/>
          <p:cNvSpPr txBox="1"/>
          <p:nvPr/>
        </p:nvSpPr>
        <p:spPr>
          <a:xfrm>
            <a:off x="4507992" y="3794760"/>
            <a:ext cx="3182112" cy="457200"/>
          </a:xfrm>
          <a:prstGeom prst="rect">
            <a:avLst/>
          </a:prstGeom>
          <a:noFill/>
          <a:ln/>
        </p:spPr>
        <p:txBody>
          <a:bodyPr wrap="square" rtlCol="0" anchor="ctr"/>
          <a:lstStyle/>
          <a:p>
            <a:pPr marL="0" indent="0">
              <a:buNone/>
            </a:pPr>
            <a:r>
              <a:rPr lang="en-US" sz="1900" b="1" dirty="0">
                <a:solidFill>
                  <a:srgbClr val="D97706"/>
                </a:solidFill>
                <a:latin typeface="Century Schoolbook" pitchFamily="34" charset="0"/>
                <a:ea typeface="Century Schoolbook" pitchFamily="34" charset="-122"/>
                <a:cs typeface="Century Schoolbook" pitchFamily="34" charset="-120"/>
              </a:rPr>
              <a:t>TRUNG BÌNH</a:t>
            </a:r>
            <a:endParaRPr lang="en-US" sz="1900" dirty="0"/>
          </a:p>
        </p:txBody>
      </p:sp>
      <p:sp>
        <p:nvSpPr>
          <p:cNvPr id="29" name="Text 27"/>
          <p:cNvSpPr txBox="1"/>
          <p:nvPr/>
        </p:nvSpPr>
        <p:spPr>
          <a:xfrm>
            <a:off x="4507992" y="4343400"/>
            <a:ext cx="3182112" cy="457200"/>
          </a:xfrm>
          <a:prstGeom prst="rect">
            <a:avLst/>
          </a:prstGeom>
          <a:noFill/>
          <a:ln/>
        </p:spPr>
        <p:txBody>
          <a:bodyPr wrap="square" rtlCol="0" anchor="ctr"/>
          <a:lstStyle/>
          <a:p>
            <a:pPr marL="0" indent="0">
              <a:buNone/>
            </a:pPr>
            <a:r>
              <a:rPr lang="en-US" sz="1250" dirty="0">
                <a:solidFill>
                  <a:srgbClr val="1A1F36"/>
                </a:solidFill>
                <a:latin typeface="Arial" pitchFamily="34" charset="0"/>
                <a:ea typeface="Arial" pitchFamily="34" charset="-122"/>
                <a:cs typeface="Arial" pitchFamily="34" charset="-120"/>
              </a:rPr>
              <a:t>Từ 30% đến dưới 70%</a:t>
            </a:r>
            <a:endParaRPr lang="en-US" sz="1250" dirty="0"/>
          </a:p>
        </p:txBody>
      </p:sp>
      <p:sp>
        <p:nvSpPr>
          <p:cNvPr id="30" name="Shape 28"/>
          <p:cNvSpPr/>
          <p:nvPr/>
        </p:nvSpPr>
        <p:spPr>
          <a:xfrm>
            <a:off x="8101584" y="3611880"/>
            <a:ext cx="3639312" cy="1417320"/>
          </a:xfrm>
          <a:prstGeom prst="roundRect">
            <a:avLst>
              <a:gd name="adj" fmla="val 5806"/>
            </a:avLst>
          </a:prstGeom>
          <a:solidFill>
            <a:srgbClr val="DC2626">
              <a:alpha val="12000"/>
            </a:srgbClr>
          </a:solidFill>
          <a:ln w="15875">
            <a:solidFill>
              <a:srgbClr val="DC2626"/>
            </a:solidFill>
            <a:prstDash val="solid"/>
          </a:ln>
        </p:spPr>
      </p:sp>
      <p:sp>
        <p:nvSpPr>
          <p:cNvPr id="31" name="Text 29"/>
          <p:cNvSpPr txBox="1"/>
          <p:nvPr/>
        </p:nvSpPr>
        <p:spPr>
          <a:xfrm>
            <a:off x="8330184" y="3794760"/>
            <a:ext cx="3182112" cy="457200"/>
          </a:xfrm>
          <a:prstGeom prst="rect">
            <a:avLst/>
          </a:prstGeom>
          <a:noFill/>
          <a:ln/>
        </p:spPr>
        <p:txBody>
          <a:bodyPr wrap="square" rtlCol="0" anchor="ctr"/>
          <a:lstStyle/>
          <a:p>
            <a:pPr marL="0" indent="0">
              <a:buNone/>
            </a:pPr>
            <a:r>
              <a:rPr lang="en-US" sz="1900" b="1" dirty="0">
                <a:solidFill>
                  <a:srgbClr val="DC2626"/>
                </a:solidFill>
                <a:latin typeface="Century Schoolbook" pitchFamily="34" charset="0"/>
                <a:ea typeface="Century Schoolbook" pitchFamily="34" charset="-122"/>
                <a:cs typeface="Century Schoolbook" pitchFamily="34" charset="-120"/>
              </a:rPr>
              <a:t>CAO</a:t>
            </a:r>
            <a:endParaRPr lang="en-US" sz="1900" dirty="0"/>
          </a:p>
        </p:txBody>
      </p:sp>
      <p:sp>
        <p:nvSpPr>
          <p:cNvPr id="32" name="Text 30"/>
          <p:cNvSpPr txBox="1"/>
          <p:nvPr/>
        </p:nvSpPr>
        <p:spPr>
          <a:xfrm>
            <a:off x="8330184" y="4343400"/>
            <a:ext cx="3182112" cy="457200"/>
          </a:xfrm>
          <a:prstGeom prst="rect">
            <a:avLst/>
          </a:prstGeom>
          <a:noFill/>
          <a:ln/>
        </p:spPr>
        <p:txBody>
          <a:bodyPr wrap="square" rtlCol="0" anchor="ctr"/>
          <a:lstStyle/>
          <a:p>
            <a:pPr marL="0" indent="0">
              <a:buNone/>
            </a:pPr>
            <a:r>
              <a:rPr lang="en-US" sz="1250" dirty="0">
                <a:solidFill>
                  <a:srgbClr val="1A1F36"/>
                </a:solidFill>
                <a:latin typeface="Arial" pitchFamily="34" charset="0"/>
                <a:ea typeface="Arial" pitchFamily="34" charset="-122"/>
                <a:cs typeface="Arial" pitchFamily="34" charset="-120"/>
              </a:rPr>
              <a:t>Từ 70% trở lên</a:t>
            </a:r>
            <a:endParaRPr lang="en-US" sz="1250" dirty="0"/>
          </a:p>
        </p:txBody>
      </p:sp>
      <p:sp>
        <p:nvSpPr>
          <p:cNvPr id="33" name="Shape 31"/>
          <p:cNvSpPr/>
          <p:nvPr/>
        </p:nvSpPr>
        <p:spPr>
          <a:xfrm>
            <a:off x="457200" y="5257800"/>
            <a:ext cx="11274552" cy="777240"/>
          </a:xfrm>
          <a:prstGeom prst="roundRect">
            <a:avLst>
              <a:gd name="adj" fmla="val 9412"/>
            </a:avLst>
          </a:prstGeom>
          <a:solidFill>
            <a:srgbClr val="FEF3E7"/>
          </a:solidFill>
          <a:ln/>
        </p:spPr>
      </p:sp>
      <p:sp>
        <p:nvSpPr>
          <p:cNvPr id="34" name="Text 32"/>
          <p:cNvSpPr txBox="1"/>
          <p:nvPr/>
        </p:nvSpPr>
        <p:spPr>
          <a:xfrm>
            <a:off x="731520" y="5257800"/>
            <a:ext cx="10698480" cy="777240"/>
          </a:xfrm>
          <a:prstGeom prst="rect">
            <a:avLst/>
          </a:prstGeom>
          <a:noFill/>
          <a:ln/>
        </p:spPr>
        <p:txBody>
          <a:bodyPr wrap="square" rtlCol="0" anchor="ctr"/>
          <a:lstStyle/>
          <a:p>
            <a:pPr marL="0" indent="0">
              <a:lnSpc>
                <a:spcPct val="125000"/>
              </a:lnSpc>
              <a:buNone/>
            </a:pPr>
            <a:r>
              <a:rPr lang="en-US" sz="1150" dirty="0">
                <a:solidFill>
                  <a:srgbClr val="8A4B00"/>
                </a:solidFill>
                <a:latin typeface="Arial" pitchFamily="34" charset="0"/>
                <a:ea typeface="Arial" pitchFamily="34" charset="-122"/>
                <a:cs typeface="Arial" pitchFamily="34" charset="-120"/>
              </a:rPr>
              <a:t>⚠  Kết quả chỉ mang tính hỗ trợ sàng lọc và tham khảo, KHÔNG phải kết luận chẩn đoán y khoa. Cần đến cơ sở y tế để được bác sĩ khám và tư vấn.</a:t>
            </a:r>
            <a:endParaRPr lang="en-US" sz="1150" dirty="0"/>
          </a:p>
        </p:txBody>
      </p:sp>
      <p:sp>
        <p:nvSpPr>
          <p:cNvPr id="35" name="Text 33"/>
          <p:cNvSpPr txBox="1"/>
          <p:nvPr/>
        </p:nvSpPr>
        <p:spPr>
          <a:xfrm>
            <a:off x="11000232" y="6473952"/>
            <a:ext cx="914400" cy="274320"/>
          </a:xfrm>
          <a:prstGeom prst="rect">
            <a:avLst/>
          </a:prstGeom>
          <a:noFill/>
          <a:ln/>
        </p:spPr>
        <p:txBody>
          <a:bodyPr wrap="square" rtlCol="0" anchor="ctr"/>
          <a:lstStyle/>
          <a:p>
            <a:pPr marL="0" indent="0" algn="r">
              <a:buNone/>
            </a:pPr>
            <a:r>
              <a:rPr lang="en-US" sz="900" dirty="0">
                <a:solidFill>
                  <a:srgbClr val="6B7280"/>
                </a:solidFill>
                <a:latin typeface="Arial" pitchFamily="34" charset="0"/>
                <a:ea typeface="Arial" pitchFamily="34" charset="-122"/>
                <a:cs typeface="Arial" pitchFamily="34" charset="-120"/>
              </a:rPr>
              <a:t>09 / 11</a:t>
            </a:r>
            <a:endParaRPr lang="en-US" sz="900" dirty="0"/>
          </a:p>
        </p:txBody>
      </p:sp>
      <p:sp>
        <p:nvSpPr>
          <p:cNvPr id="36" name="Text 34"/>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Arial" pitchFamily="34" charset="0"/>
                <a:ea typeface="Arial" pitchFamily="34" charset="-122"/>
                <a:cs typeface="Arial" pitchFamily="34" charset="-120"/>
              </a:rPr>
              <a:t>Đồ án Python HK3 — Sàng lọc &amp; dự đoán nguy cơ tiểu đường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10058400" cy="274320"/>
          </a:xfrm>
          <a:prstGeom prst="rect">
            <a:avLst/>
          </a:prstGeom>
          <a:noFill/>
          <a:ln/>
        </p:spPr>
        <p:txBody>
          <a:bodyPr wrap="square" rtlCol="0" anchor="t"/>
          <a:lstStyle/>
          <a:p>
            <a:pPr marL="0" indent="0">
              <a:buNone/>
            </a:pPr>
            <a:r>
              <a:rPr lang="en-US" sz="1200" b="1" kern="0" spc="200" dirty="0">
                <a:solidFill>
                  <a:srgbClr val="0F5C57"/>
                </a:solidFill>
                <a:latin typeface="Arial" pitchFamily="34" charset="0"/>
                <a:ea typeface="Arial" pitchFamily="34" charset="-122"/>
                <a:cs typeface="Arial" pitchFamily="34" charset="-120"/>
              </a:rPr>
              <a:t>TỔNG KẾT</a:t>
            </a:r>
            <a:endParaRPr lang="en-US" sz="1200" dirty="0"/>
          </a:p>
        </p:txBody>
      </p:sp>
      <p:sp>
        <p:nvSpPr>
          <p:cNvPr id="3" name="Text 1"/>
          <p:cNvSpPr txBox="1"/>
          <p:nvPr/>
        </p:nvSpPr>
        <p:spPr>
          <a:xfrm>
            <a:off x="457200" y="566928"/>
            <a:ext cx="11247120" cy="640080"/>
          </a:xfrm>
          <a:prstGeom prst="rect">
            <a:avLst/>
          </a:prstGeom>
          <a:noFill/>
          <a:ln/>
        </p:spPr>
        <p:txBody>
          <a:bodyPr wrap="square" rtlCol="0" anchor="t"/>
          <a:lstStyle/>
          <a:p>
            <a:pPr marL="0" indent="0">
              <a:buNone/>
            </a:pPr>
            <a:r>
              <a:rPr lang="en-US" sz="2800" b="1" dirty="0">
                <a:solidFill>
                  <a:srgbClr val="1A1F36"/>
                </a:solidFill>
                <a:latin typeface="Century Schoolbook" pitchFamily="34" charset="0"/>
                <a:ea typeface="Century Schoolbook" pitchFamily="34" charset="-122"/>
                <a:cs typeface="Century Schoolbook" pitchFamily="34" charset="-120"/>
              </a:rPr>
              <a:t>Kết quả đạt được &amp; hướng phát triển</a:t>
            </a:r>
            <a:endParaRPr lang="en-US" sz="2800" dirty="0"/>
          </a:p>
        </p:txBody>
      </p:sp>
      <p:sp>
        <p:nvSpPr>
          <p:cNvPr id="4" name="Shape 2"/>
          <p:cNvSpPr/>
          <p:nvPr/>
        </p:nvSpPr>
        <p:spPr>
          <a:xfrm>
            <a:off x="457200" y="1691640"/>
            <a:ext cx="5440680" cy="4572000"/>
          </a:xfrm>
          <a:prstGeom prst="roundRect">
            <a:avLst>
              <a:gd name="adj" fmla="val 1800"/>
            </a:avLst>
          </a:prstGeom>
          <a:solidFill>
            <a:srgbClr val="0B4642"/>
          </a:solidFill>
          <a:ln/>
          <a:effectLst>
            <a:outerShdw blurRad="63500" dist="25400" dir="5400000" algn="bl" rotWithShape="0">
              <a:srgbClr val="8FB3AC">
                <a:alpha val="30000"/>
              </a:srgbClr>
            </a:outerShdw>
          </a:effectLst>
        </p:spPr>
      </p:sp>
      <p:sp>
        <p:nvSpPr>
          <p:cNvPr id="5" name="Text 3"/>
          <p:cNvSpPr txBox="1"/>
          <p:nvPr/>
        </p:nvSpPr>
        <p:spPr>
          <a:xfrm>
            <a:off x="731520" y="1920240"/>
            <a:ext cx="4846320" cy="320040"/>
          </a:xfrm>
          <a:prstGeom prst="rect">
            <a:avLst/>
          </a:prstGeom>
          <a:noFill/>
          <a:ln/>
        </p:spPr>
        <p:txBody>
          <a:bodyPr wrap="square" rtlCol="0" anchor="ctr"/>
          <a:lstStyle/>
          <a:p>
            <a:pPr marL="0" indent="0">
              <a:buNone/>
            </a:pPr>
            <a:r>
              <a:rPr lang="en-US" sz="1300" b="1" kern="0" spc="200" dirty="0">
                <a:solidFill>
                  <a:srgbClr val="FF8A3D"/>
                </a:solidFill>
                <a:latin typeface="Arial" pitchFamily="34" charset="0"/>
                <a:ea typeface="Arial" pitchFamily="34" charset="-122"/>
                <a:cs typeface="Arial" pitchFamily="34" charset="-120"/>
              </a:rPr>
              <a:t>ĐÃ ĐẠT ĐƯỢC</a:t>
            </a:r>
            <a:endParaRPr lang="en-US" sz="1300" dirty="0"/>
          </a:p>
        </p:txBody>
      </p:sp>
      <p:sp>
        <p:nvSpPr>
          <p:cNvPr id="6" name="Shape 4"/>
          <p:cNvSpPr/>
          <p:nvPr/>
        </p:nvSpPr>
        <p:spPr>
          <a:xfrm>
            <a:off x="731520" y="2423160"/>
            <a:ext cx="329184" cy="329184"/>
          </a:xfrm>
          <a:prstGeom prst="ellipse">
            <a:avLst/>
          </a:prstGeom>
          <a:solidFill>
            <a:srgbClr val="2A9D6F"/>
          </a:solidFill>
          <a:ln/>
        </p:spPr>
      </p:sp>
      <p:sp>
        <p:nvSpPr>
          <p:cNvPr id="7" name="Text 5"/>
          <p:cNvSpPr txBox="1"/>
          <p:nvPr/>
        </p:nvSpPr>
        <p:spPr>
          <a:xfrm>
            <a:off x="731520" y="24231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8" name="Text 6"/>
          <p:cNvSpPr txBox="1"/>
          <p:nvPr/>
        </p:nvSpPr>
        <p:spPr>
          <a:xfrm>
            <a:off x="1188720" y="2350008"/>
            <a:ext cx="4480560" cy="685800"/>
          </a:xfrm>
          <a:prstGeom prst="rect">
            <a:avLst/>
          </a:prstGeom>
          <a:noFill/>
          <a:ln/>
        </p:spPr>
        <p:txBody>
          <a:bodyPr wrap="square" rtlCol="0" anchor="t"/>
          <a:lstStyle/>
          <a:p>
            <a:pPr marL="0" indent="0">
              <a:lnSpc>
                <a:spcPct val="125000"/>
              </a:lnSpc>
              <a:buNone/>
            </a:pPr>
            <a:r>
              <a:rPr lang="en-US" sz="1150" dirty="0">
                <a:solidFill>
                  <a:srgbClr val="D8F0E8"/>
                </a:solidFill>
                <a:latin typeface="Arial" pitchFamily="34" charset="0"/>
                <a:ea typeface="Arial" pitchFamily="34" charset="-122"/>
                <a:cs typeface="Arial" pitchFamily="34" charset="-120"/>
              </a:rPr>
              <a:t>Ứng dụng desktop hoàn chỉnh với 6 tab chức năng, chạy độc lập, không cần mạng</a:t>
            </a:r>
            <a:endParaRPr lang="en-US" sz="1150" dirty="0"/>
          </a:p>
        </p:txBody>
      </p:sp>
      <p:sp>
        <p:nvSpPr>
          <p:cNvPr id="9" name="Shape 7"/>
          <p:cNvSpPr/>
          <p:nvPr/>
        </p:nvSpPr>
        <p:spPr>
          <a:xfrm>
            <a:off x="731520" y="3319272"/>
            <a:ext cx="329184" cy="329184"/>
          </a:xfrm>
          <a:prstGeom prst="ellipse">
            <a:avLst/>
          </a:prstGeom>
          <a:solidFill>
            <a:srgbClr val="2A9D6F"/>
          </a:solidFill>
          <a:ln/>
        </p:spPr>
      </p:sp>
      <p:sp>
        <p:nvSpPr>
          <p:cNvPr id="10" name="Text 8"/>
          <p:cNvSpPr txBox="1"/>
          <p:nvPr/>
        </p:nvSpPr>
        <p:spPr>
          <a:xfrm>
            <a:off x="731520" y="331927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1" name="Text 9"/>
          <p:cNvSpPr txBox="1"/>
          <p:nvPr/>
        </p:nvSpPr>
        <p:spPr>
          <a:xfrm>
            <a:off x="1188720" y="3246120"/>
            <a:ext cx="4480560" cy="685800"/>
          </a:xfrm>
          <a:prstGeom prst="rect">
            <a:avLst/>
          </a:prstGeom>
          <a:noFill/>
          <a:ln/>
        </p:spPr>
        <p:txBody>
          <a:bodyPr wrap="square" rtlCol="0" anchor="t"/>
          <a:lstStyle/>
          <a:p>
            <a:pPr marL="0" indent="0">
              <a:lnSpc>
                <a:spcPct val="125000"/>
              </a:lnSpc>
              <a:buNone/>
            </a:pPr>
            <a:r>
              <a:rPr lang="en-US" sz="1150" dirty="0">
                <a:solidFill>
                  <a:srgbClr val="D8F0E8"/>
                </a:solidFill>
                <a:latin typeface="Arial" pitchFamily="34" charset="0"/>
                <a:ea typeface="Arial" pitchFamily="34" charset="-122"/>
                <a:cs typeface="Arial" pitchFamily="34" charset="-120"/>
              </a:rPr>
              <a:t>Hai mô hình ML độc lập, đóng gói bằng Pipeline, tránh lỗi data leakage kinh điển</a:t>
            </a:r>
            <a:endParaRPr lang="en-US" sz="1150" dirty="0"/>
          </a:p>
        </p:txBody>
      </p:sp>
      <p:sp>
        <p:nvSpPr>
          <p:cNvPr id="12" name="Shape 10"/>
          <p:cNvSpPr/>
          <p:nvPr/>
        </p:nvSpPr>
        <p:spPr>
          <a:xfrm>
            <a:off x="731520" y="4215384"/>
            <a:ext cx="329184" cy="329184"/>
          </a:xfrm>
          <a:prstGeom prst="ellipse">
            <a:avLst/>
          </a:prstGeom>
          <a:solidFill>
            <a:srgbClr val="2A9D6F"/>
          </a:solidFill>
          <a:ln/>
        </p:spPr>
      </p:sp>
      <p:sp>
        <p:nvSpPr>
          <p:cNvPr id="13" name="Text 11"/>
          <p:cNvSpPr txBox="1"/>
          <p:nvPr/>
        </p:nvSpPr>
        <p:spPr>
          <a:xfrm>
            <a:off x="731520" y="421538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4" name="Text 12"/>
          <p:cNvSpPr txBox="1"/>
          <p:nvPr/>
        </p:nvSpPr>
        <p:spPr>
          <a:xfrm>
            <a:off x="1188720" y="4142232"/>
            <a:ext cx="4480560" cy="685800"/>
          </a:xfrm>
          <a:prstGeom prst="rect">
            <a:avLst/>
          </a:prstGeom>
          <a:noFill/>
          <a:ln/>
        </p:spPr>
        <p:txBody>
          <a:bodyPr wrap="square" rtlCol="0" anchor="t"/>
          <a:lstStyle/>
          <a:p>
            <a:pPr marL="0" indent="0">
              <a:lnSpc>
                <a:spcPct val="125000"/>
              </a:lnSpc>
              <a:buNone/>
            </a:pPr>
            <a:r>
              <a:rPr lang="en-US" sz="1150" dirty="0">
                <a:solidFill>
                  <a:srgbClr val="D8F0E8"/>
                </a:solidFill>
                <a:latin typeface="Arial" pitchFamily="34" charset="0"/>
                <a:ea typeface="Arial" pitchFamily="34" charset="-122"/>
                <a:cs typeface="Arial" pitchFamily="34" charset="-120"/>
              </a:rPr>
              <a:t>Quản lý dữ liệu đầy đủ bằng SQLite (6 bảng), lưu và tra cứu lại lịch sử đánh giá</a:t>
            </a:r>
            <a:endParaRPr lang="en-US" sz="1150" dirty="0"/>
          </a:p>
        </p:txBody>
      </p:sp>
      <p:sp>
        <p:nvSpPr>
          <p:cNvPr id="15" name="Shape 13"/>
          <p:cNvSpPr/>
          <p:nvPr/>
        </p:nvSpPr>
        <p:spPr>
          <a:xfrm>
            <a:off x="731520" y="5111496"/>
            <a:ext cx="329184" cy="329184"/>
          </a:xfrm>
          <a:prstGeom prst="ellipse">
            <a:avLst/>
          </a:prstGeom>
          <a:solidFill>
            <a:srgbClr val="2A9D6F"/>
          </a:solidFill>
          <a:ln/>
        </p:spPr>
      </p:sp>
      <p:sp>
        <p:nvSpPr>
          <p:cNvPr id="16" name="Text 14"/>
          <p:cNvSpPr txBox="1"/>
          <p:nvPr/>
        </p:nvSpPr>
        <p:spPr>
          <a:xfrm>
            <a:off x="731520" y="511149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17" name="Text 15"/>
          <p:cNvSpPr txBox="1"/>
          <p:nvPr/>
        </p:nvSpPr>
        <p:spPr>
          <a:xfrm>
            <a:off x="1188720" y="5038344"/>
            <a:ext cx="4480560" cy="685800"/>
          </a:xfrm>
          <a:prstGeom prst="rect">
            <a:avLst/>
          </a:prstGeom>
          <a:noFill/>
          <a:ln/>
        </p:spPr>
        <p:txBody>
          <a:bodyPr wrap="square" rtlCol="0" anchor="t"/>
          <a:lstStyle/>
          <a:p>
            <a:pPr marL="0" indent="0">
              <a:lnSpc>
                <a:spcPct val="125000"/>
              </a:lnSpc>
              <a:buNone/>
            </a:pPr>
            <a:r>
              <a:rPr lang="en-US" sz="1150" dirty="0">
                <a:solidFill>
                  <a:srgbClr val="D8F0E8"/>
                </a:solidFill>
                <a:latin typeface="Arial" pitchFamily="34" charset="0"/>
                <a:ea typeface="Arial" pitchFamily="34" charset="-122"/>
                <a:cs typeface="Arial" pitchFamily="34" charset="-120"/>
              </a:rPr>
              <a:t>Có bảng so sánh 4 thuật toán làm căn cứ chọn model cho từng bài toán</a:t>
            </a:r>
            <a:endParaRPr lang="en-US" sz="1150" dirty="0"/>
          </a:p>
        </p:txBody>
      </p:sp>
      <p:sp>
        <p:nvSpPr>
          <p:cNvPr id="18" name="Shape 16"/>
          <p:cNvSpPr/>
          <p:nvPr/>
        </p:nvSpPr>
        <p:spPr>
          <a:xfrm>
            <a:off x="6263640" y="1691640"/>
            <a:ext cx="5440680" cy="4572000"/>
          </a:xfrm>
          <a:prstGeom prst="roundRect">
            <a:avLst>
              <a:gd name="adj" fmla="val 1800"/>
            </a:avLst>
          </a:prstGeom>
          <a:solidFill>
            <a:srgbClr val="EAF3F1"/>
          </a:solidFill>
          <a:ln/>
          <a:effectLst>
            <a:outerShdw blurRad="63500" dist="25400" dir="5400000" algn="bl" rotWithShape="0">
              <a:srgbClr val="8FB3AC">
                <a:alpha val="30000"/>
              </a:srgbClr>
            </a:outerShdw>
          </a:effectLst>
        </p:spPr>
      </p:sp>
      <p:sp>
        <p:nvSpPr>
          <p:cNvPr id="19" name="Text 17"/>
          <p:cNvSpPr txBox="1"/>
          <p:nvPr/>
        </p:nvSpPr>
        <p:spPr>
          <a:xfrm>
            <a:off x="6537960" y="1920240"/>
            <a:ext cx="4846320" cy="320040"/>
          </a:xfrm>
          <a:prstGeom prst="rect">
            <a:avLst/>
          </a:prstGeom>
          <a:noFill/>
          <a:ln/>
        </p:spPr>
        <p:txBody>
          <a:bodyPr wrap="square" rtlCol="0" anchor="ctr"/>
          <a:lstStyle/>
          <a:p>
            <a:pPr marL="0" indent="0">
              <a:buNone/>
            </a:pPr>
            <a:r>
              <a:rPr lang="en-US" sz="1300" b="1" kern="0" spc="200" dirty="0">
                <a:solidFill>
                  <a:srgbClr val="0F5C57"/>
                </a:solidFill>
                <a:latin typeface="Arial" pitchFamily="34" charset="0"/>
                <a:ea typeface="Arial" pitchFamily="34" charset="-122"/>
                <a:cs typeface="Arial" pitchFamily="34" charset="-120"/>
              </a:rPr>
              <a:t>HƯỚNG PHÁT TRIỂN</a:t>
            </a:r>
            <a:endParaRPr lang="en-US" sz="1300" dirty="0"/>
          </a:p>
        </p:txBody>
      </p:sp>
      <p:sp>
        <p:nvSpPr>
          <p:cNvPr id="20" name="Shape 18"/>
          <p:cNvSpPr/>
          <p:nvPr/>
        </p:nvSpPr>
        <p:spPr>
          <a:xfrm>
            <a:off x="6537960" y="2423160"/>
            <a:ext cx="329184" cy="329184"/>
          </a:xfrm>
          <a:prstGeom prst="ellipse">
            <a:avLst/>
          </a:prstGeom>
          <a:solidFill>
            <a:srgbClr val="0F5C57"/>
          </a:solidFill>
          <a:ln/>
        </p:spPr>
      </p:sp>
      <p:sp>
        <p:nvSpPr>
          <p:cNvPr id="21" name="Text 19"/>
          <p:cNvSpPr txBox="1"/>
          <p:nvPr/>
        </p:nvSpPr>
        <p:spPr>
          <a:xfrm>
            <a:off x="6537960" y="242316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2" name="Text 20"/>
          <p:cNvSpPr txBox="1"/>
          <p:nvPr/>
        </p:nvSpPr>
        <p:spPr>
          <a:xfrm>
            <a:off x="6995160" y="2350008"/>
            <a:ext cx="4480560" cy="685800"/>
          </a:xfrm>
          <a:prstGeom prst="rect">
            <a:avLst/>
          </a:prstGeom>
          <a:noFill/>
          <a:ln/>
        </p:spPr>
        <p:txBody>
          <a:bodyPr wrap="square" rtlCol="0" anchor="t"/>
          <a:lstStyle/>
          <a:p>
            <a:pPr marL="0" indent="0">
              <a:lnSpc>
                <a:spcPct val="125000"/>
              </a:lnSpc>
              <a:buNone/>
            </a:pPr>
            <a:r>
              <a:rPr lang="en-US" sz="1150" dirty="0">
                <a:solidFill>
                  <a:srgbClr val="1A1F36"/>
                </a:solidFill>
                <a:latin typeface="Arial" pitchFamily="34" charset="0"/>
                <a:ea typeface="Arial" pitchFamily="34" charset="-122"/>
                <a:cs typeface="Arial" pitchFamily="34" charset="-120"/>
              </a:rPr>
              <a:t>Đăng nhập &amp; phân quyền theo vai trò: Bác sĩ / Quản trị / Người dùng</a:t>
            </a:r>
            <a:endParaRPr lang="en-US" sz="1150" dirty="0"/>
          </a:p>
        </p:txBody>
      </p:sp>
      <p:sp>
        <p:nvSpPr>
          <p:cNvPr id="23" name="Shape 21"/>
          <p:cNvSpPr/>
          <p:nvPr/>
        </p:nvSpPr>
        <p:spPr>
          <a:xfrm>
            <a:off x="6537960" y="3172968"/>
            <a:ext cx="329184" cy="329184"/>
          </a:xfrm>
          <a:prstGeom prst="ellipse">
            <a:avLst/>
          </a:prstGeom>
          <a:solidFill>
            <a:srgbClr val="0F5C57"/>
          </a:solidFill>
          <a:ln/>
        </p:spPr>
      </p:sp>
      <p:sp>
        <p:nvSpPr>
          <p:cNvPr id="24" name="Text 22"/>
          <p:cNvSpPr txBox="1"/>
          <p:nvPr/>
        </p:nvSpPr>
        <p:spPr>
          <a:xfrm>
            <a:off x="6537960" y="3172968"/>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5" name="Text 23"/>
          <p:cNvSpPr txBox="1"/>
          <p:nvPr/>
        </p:nvSpPr>
        <p:spPr>
          <a:xfrm>
            <a:off x="6995160" y="3099816"/>
            <a:ext cx="4480560" cy="685800"/>
          </a:xfrm>
          <a:prstGeom prst="rect">
            <a:avLst/>
          </a:prstGeom>
          <a:noFill/>
          <a:ln/>
        </p:spPr>
        <p:txBody>
          <a:bodyPr wrap="square" rtlCol="0" anchor="t"/>
          <a:lstStyle/>
          <a:p>
            <a:pPr marL="0" indent="0">
              <a:lnSpc>
                <a:spcPct val="125000"/>
              </a:lnSpc>
              <a:buNone/>
            </a:pPr>
            <a:r>
              <a:rPr lang="en-US" sz="1150" dirty="0">
                <a:solidFill>
                  <a:srgbClr val="1A1F36"/>
                </a:solidFill>
                <a:latin typeface="Arial" pitchFamily="34" charset="0"/>
                <a:ea typeface="Arial" pitchFamily="34" charset="-122"/>
                <a:cs typeface="Arial" pitchFamily="34" charset="-120"/>
              </a:rPr>
              <a:t>Chuyển từ SQLite sang PostgreSQL khi cần nhiều người dùng cùng lúc</a:t>
            </a:r>
            <a:endParaRPr lang="en-US" sz="1150" dirty="0"/>
          </a:p>
        </p:txBody>
      </p:sp>
      <p:sp>
        <p:nvSpPr>
          <p:cNvPr id="26" name="Shape 24"/>
          <p:cNvSpPr/>
          <p:nvPr/>
        </p:nvSpPr>
        <p:spPr>
          <a:xfrm>
            <a:off x="6537960" y="3922776"/>
            <a:ext cx="329184" cy="329184"/>
          </a:xfrm>
          <a:prstGeom prst="ellipse">
            <a:avLst/>
          </a:prstGeom>
          <a:solidFill>
            <a:srgbClr val="0F5C57"/>
          </a:solidFill>
          <a:ln/>
        </p:spPr>
      </p:sp>
      <p:sp>
        <p:nvSpPr>
          <p:cNvPr id="27" name="Text 25"/>
          <p:cNvSpPr txBox="1"/>
          <p:nvPr/>
        </p:nvSpPr>
        <p:spPr>
          <a:xfrm>
            <a:off x="6537960" y="3922776"/>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8" name="Text 26"/>
          <p:cNvSpPr txBox="1"/>
          <p:nvPr/>
        </p:nvSpPr>
        <p:spPr>
          <a:xfrm>
            <a:off x="6995160" y="3849624"/>
            <a:ext cx="4480560" cy="685800"/>
          </a:xfrm>
          <a:prstGeom prst="rect">
            <a:avLst/>
          </a:prstGeom>
          <a:noFill/>
          <a:ln/>
        </p:spPr>
        <p:txBody>
          <a:bodyPr wrap="square" rtlCol="0" anchor="t"/>
          <a:lstStyle/>
          <a:p>
            <a:pPr marL="0" indent="0">
              <a:lnSpc>
                <a:spcPct val="125000"/>
              </a:lnSpc>
              <a:buNone/>
            </a:pPr>
            <a:r>
              <a:rPr lang="en-US" sz="1150" dirty="0">
                <a:solidFill>
                  <a:srgbClr val="1A1F36"/>
                </a:solidFill>
                <a:latin typeface="Arial" pitchFamily="34" charset="0"/>
                <a:ea typeface="Arial" pitchFamily="34" charset="-122"/>
                <a:cs typeface="Arial" pitchFamily="34" charset="-120"/>
              </a:rPr>
              <a:t>Giải thích dự đoán chi tiết hơn bằng SHAP hoặc feature importance</a:t>
            </a:r>
            <a:endParaRPr lang="en-US" sz="1150" dirty="0"/>
          </a:p>
        </p:txBody>
      </p:sp>
      <p:sp>
        <p:nvSpPr>
          <p:cNvPr id="29" name="Shape 27"/>
          <p:cNvSpPr/>
          <p:nvPr/>
        </p:nvSpPr>
        <p:spPr>
          <a:xfrm>
            <a:off x="6537960" y="4672584"/>
            <a:ext cx="329184" cy="329184"/>
          </a:xfrm>
          <a:prstGeom prst="ellipse">
            <a:avLst/>
          </a:prstGeom>
          <a:solidFill>
            <a:srgbClr val="0F5C57"/>
          </a:solidFill>
          <a:ln/>
        </p:spPr>
      </p:sp>
      <p:sp>
        <p:nvSpPr>
          <p:cNvPr id="30" name="Text 28"/>
          <p:cNvSpPr txBox="1"/>
          <p:nvPr/>
        </p:nvSpPr>
        <p:spPr>
          <a:xfrm>
            <a:off x="6537960" y="4672584"/>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31" name="Text 29"/>
          <p:cNvSpPr txBox="1"/>
          <p:nvPr/>
        </p:nvSpPr>
        <p:spPr>
          <a:xfrm>
            <a:off x="6995160" y="4599432"/>
            <a:ext cx="4480560" cy="685800"/>
          </a:xfrm>
          <a:prstGeom prst="rect">
            <a:avLst/>
          </a:prstGeom>
          <a:noFill/>
          <a:ln/>
        </p:spPr>
        <p:txBody>
          <a:bodyPr wrap="square" rtlCol="0" anchor="t"/>
          <a:lstStyle/>
          <a:p>
            <a:pPr marL="0" indent="0">
              <a:lnSpc>
                <a:spcPct val="125000"/>
              </a:lnSpc>
              <a:buNone/>
            </a:pPr>
            <a:r>
              <a:rPr lang="en-US" sz="1150" dirty="0">
                <a:solidFill>
                  <a:srgbClr val="1A1F36"/>
                </a:solidFill>
                <a:latin typeface="Arial" pitchFamily="34" charset="0"/>
                <a:ea typeface="Arial" pitchFamily="34" charset="-122"/>
                <a:cs typeface="Arial" pitchFamily="34" charset="-120"/>
              </a:rPr>
              <a:t>Xuất kết quả đánh giá ra file PDF để lưu trữ hoặc mang đi khám</a:t>
            </a:r>
            <a:endParaRPr lang="en-US" sz="1150" dirty="0"/>
          </a:p>
        </p:txBody>
      </p:sp>
      <p:sp>
        <p:nvSpPr>
          <p:cNvPr id="32" name="Shape 30"/>
          <p:cNvSpPr/>
          <p:nvPr/>
        </p:nvSpPr>
        <p:spPr>
          <a:xfrm>
            <a:off x="6537960" y="5422392"/>
            <a:ext cx="329184" cy="329184"/>
          </a:xfrm>
          <a:prstGeom prst="ellipse">
            <a:avLst/>
          </a:prstGeom>
          <a:solidFill>
            <a:srgbClr val="0F5C57"/>
          </a:solidFill>
          <a:ln/>
        </p:spPr>
      </p:sp>
      <p:sp>
        <p:nvSpPr>
          <p:cNvPr id="33" name="Text 31"/>
          <p:cNvSpPr txBox="1"/>
          <p:nvPr/>
        </p:nvSpPr>
        <p:spPr>
          <a:xfrm>
            <a:off x="6537960" y="5422392"/>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34" name="Text 32"/>
          <p:cNvSpPr txBox="1"/>
          <p:nvPr/>
        </p:nvSpPr>
        <p:spPr>
          <a:xfrm>
            <a:off x="6995160" y="5349240"/>
            <a:ext cx="4480560" cy="685800"/>
          </a:xfrm>
          <a:prstGeom prst="rect">
            <a:avLst/>
          </a:prstGeom>
          <a:noFill/>
          <a:ln/>
        </p:spPr>
        <p:txBody>
          <a:bodyPr wrap="square" rtlCol="0" anchor="t"/>
          <a:lstStyle/>
          <a:p>
            <a:pPr marL="0" indent="0">
              <a:lnSpc>
                <a:spcPct val="125000"/>
              </a:lnSpc>
              <a:buNone/>
            </a:pPr>
            <a:r>
              <a:rPr lang="en-US" sz="1150" dirty="0">
                <a:solidFill>
                  <a:srgbClr val="1A1F36"/>
                </a:solidFill>
                <a:latin typeface="Arial" pitchFamily="34" charset="0"/>
                <a:ea typeface="Arial" pitchFamily="34" charset="-122"/>
                <a:cs typeface="Arial" pitchFamily="34" charset="-120"/>
              </a:rPr>
              <a:t>Đóng gói ứng dụng thành file .exe bằng PyInstaller</a:t>
            </a:r>
            <a:endParaRPr lang="en-US" sz="1150" dirty="0"/>
          </a:p>
        </p:txBody>
      </p:sp>
      <p:sp>
        <p:nvSpPr>
          <p:cNvPr id="35" name="Text 33"/>
          <p:cNvSpPr txBox="1"/>
          <p:nvPr/>
        </p:nvSpPr>
        <p:spPr>
          <a:xfrm>
            <a:off x="11000232" y="6473952"/>
            <a:ext cx="914400" cy="274320"/>
          </a:xfrm>
          <a:prstGeom prst="rect">
            <a:avLst/>
          </a:prstGeom>
          <a:noFill/>
          <a:ln/>
        </p:spPr>
        <p:txBody>
          <a:bodyPr wrap="square" rtlCol="0" anchor="ctr"/>
          <a:lstStyle/>
          <a:p>
            <a:pPr marL="0" indent="0" algn="r">
              <a:buNone/>
            </a:pPr>
            <a:r>
              <a:rPr lang="en-US" sz="900" dirty="0">
                <a:solidFill>
                  <a:srgbClr val="6B7280"/>
                </a:solidFill>
                <a:latin typeface="Arial" pitchFamily="34" charset="0"/>
                <a:ea typeface="Arial" pitchFamily="34" charset="-122"/>
                <a:cs typeface="Arial" pitchFamily="34" charset="-120"/>
              </a:rPr>
              <a:t>10 / 11</a:t>
            </a:r>
            <a:endParaRPr lang="en-US" sz="900" dirty="0"/>
          </a:p>
        </p:txBody>
      </p:sp>
      <p:sp>
        <p:nvSpPr>
          <p:cNvPr id="36" name="Text 34"/>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Arial" pitchFamily="34" charset="0"/>
                <a:ea typeface="Arial" pitchFamily="34" charset="-122"/>
                <a:cs typeface="Arial" pitchFamily="34" charset="-120"/>
              </a:rPr>
              <a:t>Đồ án Python HK3 — Sàng lọc &amp; dự đoán nguy cơ tiểu đường</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4642"/>
        </a:solidFill>
        <a:effectLst/>
      </p:bgPr>
    </p:bg>
    <p:spTree>
      <p:nvGrpSpPr>
        <p:cNvPr id="1" name=""/>
        <p:cNvGrpSpPr/>
        <p:nvPr/>
      </p:nvGrpSpPr>
      <p:grpSpPr>
        <a:xfrm>
          <a:off x="0" y="0"/>
          <a:ext cx="0" cy="0"/>
          <a:chOff x="0" y="0"/>
          <a:chExt cx="0" cy="0"/>
        </a:xfrm>
      </p:grpSpPr>
      <p:sp>
        <p:nvSpPr>
          <p:cNvPr id="2" name="Shape 0"/>
          <p:cNvSpPr/>
          <p:nvPr/>
        </p:nvSpPr>
        <p:spPr>
          <a:xfrm>
            <a:off x="-1828800" y="-2011680"/>
            <a:ext cx="5486400" cy="5486400"/>
          </a:xfrm>
          <a:prstGeom prst="ellipse">
            <a:avLst/>
          </a:prstGeom>
          <a:solidFill>
            <a:srgbClr val="0F5C57">
              <a:alpha val="45000"/>
            </a:srgbClr>
          </a:solidFill>
          <a:ln/>
        </p:spPr>
      </p:sp>
      <p:sp>
        <p:nvSpPr>
          <p:cNvPr id="3" name="Shape 1"/>
          <p:cNvSpPr/>
          <p:nvPr/>
        </p:nvSpPr>
        <p:spPr>
          <a:xfrm>
            <a:off x="9692640" y="4206240"/>
            <a:ext cx="3840480" cy="3840480"/>
          </a:xfrm>
          <a:prstGeom prst="ellipse">
            <a:avLst/>
          </a:prstGeom>
          <a:solidFill>
            <a:srgbClr val="1C7293">
              <a:alpha val="45000"/>
            </a:srgbClr>
          </a:solidFill>
          <a:ln/>
        </p:spPr>
      </p:sp>
      <p:sp>
        <p:nvSpPr>
          <p:cNvPr id="4" name="Text 2"/>
          <p:cNvSpPr txBox="1"/>
          <p:nvPr/>
        </p:nvSpPr>
        <p:spPr>
          <a:xfrm>
            <a:off x="822960" y="2514600"/>
            <a:ext cx="10515600" cy="365760"/>
          </a:xfrm>
          <a:prstGeom prst="rect">
            <a:avLst/>
          </a:prstGeom>
          <a:noFill/>
          <a:ln/>
        </p:spPr>
        <p:txBody>
          <a:bodyPr wrap="square" rtlCol="0" anchor="ctr"/>
          <a:lstStyle/>
          <a:p>
            <a:pPr marL="0" indent="0">
              <a:buNone/>
            </a:pPr>
            <a:r>
              <a:rPr lang="en-US" sz="1400" b="1" kern="0" spc="300" dirty="0">
                <a:solidFill>
                  <a:srgbClr val="FF8A3D"/>
                </a:solidFill>
                <a:latin typeface="Arial" pitchFamily="34" charset="0"/>
                <a:ea typeface="Arial" pitchFamily="34" charset="-122"/>
                <a:cs typeface="Arial" pitchFamily="34" charset="-120"/>
              </a:rPr>
              <a:t>CẢM ƠN THẦY / CÔ ĐÃ THEO DÕI</a:t>
            </a:r>
            <a:endParaRPr lang="en-US" sz="1400" dirty="0"/>
          </a:p>
        </p:txBody>
      </p:sp>
      <p:sp>
        <p:nvSpPr>
          <p:cNvPr id="5" name="Text 3"/>
          <p:cNvSpPr txBox="1"/>
          <p:nvPr/>
        </p:nvSpPr>
        <p:spPr>
          <a:xfrm>
            <a:off x="822960" y="2926080"/>
            <a:ext cx="10515600" cy="1005840"/>
          </a:xfrm>
          <a:prstGeom prst="rect">
            <a:avLst/>
          </a:prstGeom>
          <a:noFill/>
          <a:ln/>
        </p:spPr>
        <p:txBody>
          <a:bodyPr wrap="square" rtlCol="0" anchor="ctr"/>
          <a:lstStyle/>
          <a:p>
            <a:pPr marL="0" indent="0">
              <a:buNone/>
            </a:pPr>
            <a:r>
              <a:rPr lang="en-US" sz="4400" b="1" dirty="0">
                <a:solidFill>
                  <a:srgbClr val="FFFFFF"/>
                </a:solidFill>
                <a:latin typeface="Century Schoolbook" pitchFamily="34" charset="0"/>
                <a:ea typeface="Century Schoolbook" pitchFamily="34" charset="-122"/>
                <a:cs typeface="Century Schoolbook" pitchFamily="34" charset="-120"/>
              </a:rPr>
              <a:t>Câu hỏi &amp; thảo luận</a:t>
            </a:r>
            <a:endParaRPr lang="en-US" sz="4400" dirty="0"/>
          </a:p>
        </p:txBody>
      </p:sp>
      <p:sp>
        <p:nvSpPr>
          <p:cNvPr id="6" name="Text 4"/>
          <p:cNvSpPr txBox="1"/>
          <p:nvPr/>
        </p:nvSpPr>
        <p:spPr>
          <a:xfrm>
            <a:off x="822960" y="3977640"/>
            <a:ext cx="8046720" cy="685800"/>
          </a:xfrm>
          <a:prstGeom prst="rect">
            <a:avLst/>
          </a:prstGeom>
          <a:noFill/>
          <a:ln/>
        </p:spPr>
        <p:txBody>
          <a:bodyPr wrap="square" rtlCol="0" anchor="ctr"/>
          <a:lstStyle/>
          <a:p>
            <a:pPr marL="0" indent="0">
              <a:lnSpc>
                <a:spcPct val="130000"/>
              </a:lnSpc>
              <a:buNone/>
            </a:pPr>
            <a:r>
              <a:rPr lang="en-US" sz="1300" i="1" dirty="0">
                <a:solidFill>
                  <a:srgbClr val="9FD3C7"/>
                </a:solidFill>
                <a:latin typeface="Arial" pitchFamily="34" charset="0"/>
                <a:ea typeface="Arial" pitchFamily="34" charset="-122"/>
                <a:cs typeface="Arial" pitchFamily="34" charset="-120"/>
              </a:rPr>
              <a:t>Ứng dụng hỗ trợ sàng lọc và dự đoán nguy cơ tiểu đường — bài tập học thuật, kết quả chỉ mang tính tham khảo và hỗ trợ sàng lọc ban đầu.</a:t>
            </a:r>
            <a:endParaRPr lang="en-US" sz="1300" dirty="0"/>
          </a:p>
        </p:txBody>
      </p:sp>
      <p:sp>
        <p:nvSpPr>
          <p:cNvPr id="7" name="Text 5"/>
          <p:cNvSpPr txBox="1"/>
          <p:nvPr/>
        </p:nvSpPr>
        <p:spPr>
          <a:xfrm>
            <a:off x="822960" y="6217920"/>
            <a:ext cx="7315200" cy="274320"/>
          </a:xfrm>
          <a:prstGeom prst="rect">
            <a:avLst/>
          </a:prstGeom>
          <a:noFill/>
          <a:ln/>
        </p:spPr>
        <p:txBody>
          <a:bodyPr wrap="square" rtlCol="0" anchor="ctr"/>
          <a:lstStyle/>
          <a:p>
            <a:pPr marL="0" indent="0">
              <a:buNone/>
            </a:pPr>
            <a:endParaRPr lang="en-US" sz="1000" dirty="0"/>
          </a:p>
        </p:txBody>
      </p:sp>
      <p:sp>
        <p:nvSpPr>
          <p:cNvPr id="8" name="Text 6"/>
          <p:cNvSpPr txBox="1"/>
          <p:nvPr/>
        </p:nvSpPr>
        <p:spPr>
          <a:xfrm>
            <a:off x="10908792" y="6400800"/>
            <a:ext cx="914400" cy="274320"/>
          </a:xfrm>
          <a:prstGeom prst="rect">
            <a:avLst/>
          </a:prstGeom>
          <a:noFill/>
          <a:ln/>
        </p:spPr>
        <p:txBody>
          <a:bodyPr wrap="square" rtlCol="0" anchor="ctr"/>
          <a:lstStyle/>
          <a:p>
            <a:pPr marL="0" indent="0" algn="r">
              <a:buNone/>
            </a:pPr>
            <a:r>
              <a:rPr lang="en-US" sz="900" dirty="0">
                <a:solidFill>
                  <a:srgbClr val="6FA79C"/>
                </a:solidFill>
                <a:latin typeface="Arial" pitchFamily="34" charset="0"/>
                <a:ea typeface="Arial" pitchFamily="34" charset="-122"/>
                <a:cs typeface="Arial" pitchFamily="34" charset="-120"/>
              </a:rPr>
              <a:t>11 / 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1411</Words>
  <Application>Microsoft Office PowerPoint</Application>
  <PresentationFormat>Widescreen</PresentationFormat>
  <Paragraphs>217</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Century Schoolbook</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VNLP24-IT13</cp:lastModifiedBy>
  <cp:revision>7</cp:revision>
  <dcterms:created xsi:type="dcterms:W3CDTF">2026-09-21T15:54:15Z</dcterms:created>
  <dcterms:modified xsi:type="dcterms:W3CDTF">2026-09-22T08:08:01Z</dcterms:modified>
</cp:coreProperties>
</file>